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8" r:id="rId2"/>
    <p:sldId id="256" r:id="rId3"/>
    <p:sldId id="267" r:id="rId4"/>
    <p:sldId id="260" r:id="rId5"/>
    <p:sldId id="262" r:id="rId6"/>
    <p:sldId id="263" r:id="rId7"/>
    <p:sldId id="264" r:id="rId8"/>
    <p:sldId id="265" r:id="rId9"/>
    <p:sldId id="26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2373" autoAdjust="0"/>
  </p:normalViewPr>
  <p:slideViewPr>
    <p:cSldViewPr snapToGrid="0" snapToObjects="1">
      <p:cViewPr varScale="1">
        <p:scale>
          <a:sx n="64" d="100"/>
          <a:sy n="64" d="100"/>
        </p:scale>
        <p:origin x="38" y="2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B249C5-0AE2-4AB8-B06C-BCCBF5E0795E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4D9576-5768-4949-BC83-587AD8EBC73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3445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Mi nombre es David y mi Trabajo Fin de Máster se titula </a:t>
            </a:r>
            <a:r>
              <a:rPr lang="es-ES" b="1" dirty="0"/>
              <a:t>AeroGPT: sistema </a:t>
            </a:r>
            <a:r>
              <a:rPr lang="es-ES" b="1" dirty="0" err="1"/>
              <a:t>multiagente</a:t>
            </a:r>
            <a:r>
              <a:rPr lang="es-ES" b="1" dirty="0"/>
              <a:t> para análisis aeronáutico</a:t>
            </a:r>
            <a:r>
              <a:rPr lang="es-ES" dirty="0"/>
              <a:t>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D9576-5768-4949-BC83-587AD8EBC73E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6207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A768A-D27B-A4B3-BB9F-A1F69326F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FC3CE25-1FB6-DDA7-3BE7-A1ED9E6C5E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F2F982B-E078-7169-B868-DAC13D4DD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“Para dar respuesta al problema planteado, el proyecto se desarrolla siguiendo una metodología estructurada basada en tres pilares principales.</a:t>
            </a:r>
          </a:p>
          <a:p>
            <a:r>
              <a:rPr lang="es-ES" dirty="0"/>
              <a:t>En primer lugar, un sistema de gestión de información documental mediante técnicas de procesamiento del lenguaje natural y recuperación aumentada, conocido como RAG.</a:t>
            </a:r>
          </a:p>
          <a:p>
            <a:r>
              <a:rPr lang="es-ES" dirty="0"/>
              <a:t>En segundo lugar, un módulo de análisis de datos basado en aprendizaje profundo, encargado de procesar datos de sensores y realizar predicciones como el cálculo del RUL.</a:t>
            </a:r>
          </a:p>
          <a:p>
            <a:r>
              <a:rPr lang="es-ES" dirty="0"/>
              <a:t>Y en tercer lugar, una arquitectura </a:t>
            </a:r>
            <a:r>
              <a:rPr lang="es-ES" dirty="0" err="1"/>
              <a:t>multiagente</a:t>
            </a:r>
            <a:r>
              <a:rPr lang="es-ES" dirty="0"/>
              <a:t> que coordina todos los componentes y decide de forma inteligente qué tipo de análisis es necesario en cada situación.</a:t>
            </a:r>
          </a:p>
          <a:p>
            <a:r>
              <a:rPr lang="es-ES" dirty="0"/>
              <a:t>De esta forma, AeroGPT integra datos numéricos y conocimiento técnico dentro de un único flujo de trabajo.”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A23D2DD-17BF-0DFB-ECA6-FA3BF575C8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D9576-5768-4949-BC83-587AD8EBC73E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1969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E6C66-D0CA-AC32-EAEB-278913925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1311A44-3CD3-45C7-6338-35FDBE45B7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9367E65-CC3F-1248-58A7-D6E11F57A0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“Para dar respuesta al problema planteado, el proyecto se desarrolla siguiendo una metodología estructurada basada en tres pilares principales.</a:t>
            </a:r>
          </a:p>
          <a:p>
            <a:r>
              <a:rPr lang="es-ES" dirty="0"/>
              <a:t>En primer lugar, un sistema de gestión de información documental mediante técnicas de procesamiento del lenguaje natural y recuperación aumentada, conocido como RAG.</a:t>
            </a:r>
          </a:p>
          <a:p>
            <a:r>
              <a:rPr lang="es-ES" dirty="0"/>
              <a:t>En segundo lugar, un módulo de análisis de datos basado en aprendizaje profundo, encargado de procesar datos de sensores y realizar predicciones como el cálculo del RUL.</a:t>
            </a:r>
          </a:p>
          <a:p>
            <a:r>
              <a:rPr lang="es-ES" dirty="0"/>
              <a:t>Y en tercer lugar, una arquitectura </a:t>
            </a:r>
            <a:r>
              <a:rPr lang="es-ES" dirty="0" err="1"/>
              <a:t>multiagente</a:t>
            </a:r>
            <a:r>
              <a:rPr lang="es-ES" dirty="0"/>
              <a:t> que coordina todos los componentes y decide de forma inteligente qué tipo de análisis es necesario en cada situación.</a:t>
            </a:r>
          </a:p>
          <a:p>
            <a:r>
              <a:rPr lang="es-ES" dirty="0"/>
              <a:t>De esta forma, AeroGPT integra datos numéricos y conocimiento técnico dentro de un único flujo de trabajo.”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C9AEE1-FB76-AA17-434C-7214EECAE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D9576-5768-4949-BC83-587AD8EBC73E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070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9A064-E625-4A14-26B3-CD5E59076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8C4F369-1E40-F503-A821-A62E3BCCCD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2472F47-5F67-B2F6-C688-344F6303B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“Para dar respuesta al problema planteado, el proyecto se desarrolla siguiendo una metodología estructurada basada en tres pilares principales.</a:t>
            </a:r>
          </a:p>
          <a:p>
            <a:r>
              <a:rPr lang="es-ES" dirty="0"/>
              <a:t>En primer lugar, un sistema de gestión de información documental mediante técnicas de procesamiento del lenguaje natural y recuperación aumentada, conocido como RAG.</a:t>
            </a:r>
          </a:p>
          <a:p>
            <a:r>
              <a:rPr lang="es-ES" dirty="0"/>
              <a:t>En segundo lugar, un módulo de análisis de datos basado en aprendizaje profundo, encargado de procesar datos de sensores y realizar predicciones como el cálculo del RUL.</a:t>
            </a:r>
          </a:p>
          <a:p>
            <a:r>
              <a:rPr lang="es-ES" dirty="0"/>
              <a:t>Y en tercer lugar, una arquitectura </a:t>
            </a:r>
            <a:r>
              <a:rPr lang="es-ES" dirty="0" err="1"/>
              <a:t>multiagente</a:t>
            </a:r>
            <a:r>
              <a:rPr lang="es-ES" dirty="0"/>
              <a:t> que coordina todos los componentes y decide de forma inteligente qué tipo de análisis es necesario en cada situación.</a:t>
            </a:r>
          </a:p>
          <a:p>
            <a:r>
              <a:rPr lang="es-ES" dirty="0"/>
              <a:t>De esta forma, AeroGPT integra datos numéricos y conocimiento técnico dentro de un único flujo de trabajo.”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9AFE842-1A7E-AB39-0AEF-B5602EA34D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D9576-5768-4949-BC83-587AD8EBC73E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7559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40425-6F99-6B03-B62C-D83F91390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B9502DC-CCE6-685D-1DD2-82427C8D41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8DAAC98-B7BE-7C50-4B9A-9C896E7D0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“Para dar respuesta al problema planteado, el proyecto se desarrolla siguiendo una metodología estructurada basada en tres pilares principales.</a:t>
            </a:r>
          </a:p>
          <a:p>
            <a:r>
              <a:rPr lang="es-ES" dirty="0"/>
              <a:t>En primer lugar, un sistema de gestión de información documental mediante técnicas de procesamiento del lenguaje natural y recuperación aumentada, conocido como RAG.</a:t>
            </a:r>
          </a:p>
          <a:p>
            <a:r>
              <a:rPr lang="es-ES" dirty="0"/>
              <a:t>En segundo lugar, un módulo de análisis de datos basado en aprendizaje profundo, encargado de procesar datos de sensores y realizar predicciones como el cálculo del RUL.</a:t>
            </a:r>
          </a:p>
          <a:p>
            <a:r>
              <a:rPr lang="es-ES" dirty="0"/>
              <a:t>Y en tercer lugar, una arquitectura </a:t>
            </a:r>
            <a:r>
              <a:rPr lang="es-ES" dirty="0" err="1"/>
              <a:t>multiagente</a:t>
            </a:r>
            <a:r>
              <a:rPr lang="es-ES" dirty="0"/>
              <a:t> que coordina todos los componentes y decide de forma inteligente qué tipo de análisis es necesario en cada situación.</a:t>
            </a:r>
          </a:p>
          <a:p>
            <a:r>
              <a:rPr lang="es-ES" dirty="0"/>
              <a:t>De esta forma, AeroGPT integra datos numéricos y conocimiento técnico dentro de un único flujo de trabajo.”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1669A5F-F205-7A00-E919-B0699D3352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D9576-5768-4949-BC83-587AD8EBC73E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33267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2203E-CBD2-BE8C-191A-FD79CD368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33524DA-16B7-D939-8798-0063755640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51BBCB0-389B-FC88-AB1B-0A983E069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“Para dar respuesta al problema planteado, el proyecto se desarrolla siguiendo una metodología estructurada basada en tres pilares principales.</a:t>
            </a:r>
          </a:p>
          <a:p>
            <a:r>
              <a:rPr lang="es-ES" dirty="0"/>
              <a:t>En primer lugar, un sistema de gestión de información documental mediante técnicas de procesamiento del lenguaje natural y recuperación aumentada, conocido como RAG.</a:t>
            </a:r>
          </a:p>
          <a:p>
            <a:r>
              <a:rPr lang="es-ES" dirty="0"/>
              <a:t>En segundo lugar, un módulo de análisis de datos basado en aprendizaje profundo, encargado de procesar datos de sensores y realizar predicciones como el cálculo del RUL.</a:t>
            </a:r>
          </a:p>
          <a:p>
            <a:r>
              <a:rPr lang="es-ES" dirty="0"/>
              <a:t>Y en tercer lugar, una arquitectura </a:t>
            </a:r>
            <a:r>
              <a:rPr lang="es-ES" dirty="0" err="1"/>
              <a:t>multiagente</a:t>
            </a:r>
            <a:r>
              <a:rPr lang="es-ES" dirty="0"/>
              <a:t> que coordina todos los componentes y decide de forma inteligente qué tipo de análisis es necesario en cada situación.</a:t>
            </a:r>
          </a:p>
          <a:p>
            <a:r>
              <a:rPr lang="es-ES" dirty="0"/>
              <a:t>De esta forma, AeroGPT integra datos numéricos y conocimiento técnico dentro de un único flujo de trabajo.”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9284A9C-7AE3-81DE-1BC7-3646304FA6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D9576-5768-4949-BC83-587AD8EBC73E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2496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EBDB9-73D3-FCD1-8DC1-FE6C8B2DD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EA58155-80E4-065B-EF71-F64D4839E7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F355E7C-89BD-D48E-21CC-86F71D4AA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“Para dar respuesta al problema planteado, el proyecto se desarrolla siguiendo una metodología estructurada basada en tres pilares principales.</a:t>
            </a:r>
          </a:p>
          <a:p>
            <a:r>
              <a:rPr lang="es-ES" dirty="0"/>
              <a:t>En primer lugar, un sistema de gestión de información documental mediante técnicas de procesamiento del lenguaje natural y recuperación aumentada, conocido como RAG.</a:t>
            </a:r>
          </a:p>
          <a:p>
            <a:r>
              <a:rPr lang="es-ES" dirty="0"/>
              <a:t>En segundo lugar, un módulo de análisis de datos basado en aprendizaje profundo, encargado de procesar datos de sensores y realizar predicciones como el cálculo del RUL.</a:t>
            </a:r>
          </a:p>
          <a:p>
            <a:r>
              <a:rPr lang="es-ES" dirty="0"/>
              <a:t>Y en tercer lugar, una arquitectura </a:t>
            </a:r>
            <a:r>
              <a:rPr lang="es-ES" dirty="0" err="1"/>
              <a:t>multiagente</a:t>
            </a:r>
            <a:r>
              <a:rPr lang="es-ES" dirty="0"/>
              <a:t> que coordina todos los componentes y decide de forma inteligente qué tipo de análisis es necesario en cada situación.</a:t>
            </a:r>
          </a:p>
          <a:p>
            <a:r>
              <a:rPr lang="es-ES" dirty="0"/>
              <a:t>De esta forma, AeroGPT integra datos numéricos y conocimiento técnico dentro de un único flujo de trabajo.”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B4A6F36-3F96-6522-5954-3408C6B6F0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D9576-5768-4949-BC83-587AD8EBC73E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7622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emf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3C78C8"/>
                </a:solidFill>
              </a:defRPr>
            </a:pPr>
            <a:r>
              <a:t>Introducción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8207" y="1898248"/>
            <a:ext cx="8150793" cy="1431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b="1" dirty="0">
                <a:solidFill>
                  <a:schemeClr val="bg1"/>
                </a:solidFill>
              </a:rPr>
              <a:t>1. INTRODUCCIÓN (20–25 s)</a:t>
            </a:r>
          </a:p>
          <a:p>
            <a:r>
              <a:rPr lang="es-ES" sz="800" b="1" dirty="0">
                <a:solidFill>
                  <a:schemeClr val="bg1"/>
                </a:solidFill>
              </a:rPr>
              <a:t>Objetivo</a:t>
            </a:r>
          </a:p>
          <a:p>
            <a:r>
              <a:rPr lang="es-ES" sz="800" dirty="0">
                <a:solidFill>
                  <a:schemeClr val="bg1"/>
                </a:solidFill>
              </a:rPr>
              <a:t>Presentarte y presentar el proyecto de forma clara y directa.</a:t>
            </a:r>
          </a:p>
          <a:p>
            <a:r>
              <a:rPr lang="es-ES" sz="800" b="1" dirty="0">
                <a:solidFill>
                  <a:schemeClr val="bg1"/>
                </a:solidFill>
              </a:rPr>
              <a:t>Contenido</a:t>
            </a:r>
          </a:p>
          <a:p>
            <a:r>
              <a:rPr lang="es-ES" sz="800" dirty="0">
                <a:solidFill>
                  <a:schemeClr val="bg1"/>
                </a:solidFill>
              </a:rPr>
              <a:t>Aquí debes responder en tres frases:</a:t>
            </a:r>
          </a:p>
          <a:p>
            <a:r>
              <a:rPr lang="es-ES" sz="800" dirty="0">
                <a:solidFill>
                  <a:schemeClr val="bg1"/>
                </a:solidFill>
              </a:rPr>
              <a:t>Quién eres</a:t>
            </a:r>
          </a:p>
          <a:p>
            <a:r>
              <a:rPr lang="es-ES" sz="800" dirty="0">
                <a:solidFill>
                  <a:schemeClr val="bg1"/>
                </a:solidFill>
              </a:rPr>
              <a:t>Qué es AeroGPT</a:t>
            </a:r>
          </a:p>
          <a:p>
            <a:r>
              <a:rPr lang="es-ES" sz="800" dirty="0">
                <a:solidFill>
                  <a:schemeClr val="bg1"/>
                </a:solidFill>
              </a:rPr>
              <a:t>Para qué sirve</a:t>
            </a:r>
          </a:p>
          <a:p>
            <a:r>
              <a:rPr lang="es-ES" sz="800" b="1" dirty="0">
                <a:solidFill>
                  <a:schemeClr val="bg1"/>
                </a:solidFill>
              </a:rPr>
              <a:t>Mensaje clave</a:t>
            </a:r>
          </a:p>
          <a:p>
            <a:r>
              <a:rPr lang="es-ES" sz="800" dirty="0">
                <a:solidFill>
                  <a:schemeClr val="bg1"/>
                </a:solidFill>
              </a:rPr>
              <a:t>“Este proyecto aplica Big Data e IA para apoyar decisiones en mantenimiento aeronáutico.”</a:t>
            </a:r>
          </a:p>
          <a:p>
            <a:br>
              <a:rPr lang="es-ES" sz="800" dirty="0">
                <a:solidFill>
                  <a:schemeClr val="bg1"/>
                </a:solidFill>
              </a:rPr>
            </a:br>
            <a:endParaRPr lang="es-ES" sz="800" dirty="0">
              <a:solidFill>
                <a:schemeClr val="bg1"/>
              </a:solidFill>
            </a:endParaRPr>
          </a:p>
          <a:p>
            <a:r>
              <a:rPr lang="es-ES" sz="800" b="1" dirty="0">
                <a:solidFill>
                  <a:schemeClr val="bg1"/>
                </a:solidFill>
              </a:rPr>
              <a:t>2. PROBLEMA Y MOTIVACIÓN (30–40 s)</a:t>
            </a:r>
          </a:p>
          <a:p>
            <a:r>
              <a:rPr lang="es-ES" sz="800" b="1" dirty="0">
                <a:solidFill>
                  <a:schemeClr val="bg1"/>
                </a:solidFill>
              </a:rPr>
              <a:t>Objetivo</a:t>
            </a:r>
          </a:p>
          <a:p>
            <a:r>
              <a:rPr lang="es-ES" sz="800" dirty="0">
                <a:solidFill>
                  <a:schemeClr val="bg1"/>
                </a:solidFill>
              </a:rPr>
              <a:t>Que el jurado entienda por qué tu proyecto es necesario.</a:t>
            </a:r>
          </a:p>
          <a:p>
            <a:r>
              <a:rPr lang="es-ES" sz="800" b="1" dirty="0">
                <a:solidFill>
                  <a:schemeClr val="bg1"/>
                </a:solidFill>
              </a:rPr>
              <a:t>Contenido</a:t>
            </a:r>
          </a:p>
          <a:p>
            <a:r>
              <a:rPr lang="es-ES" sz="800" dirty="0">
                <a:solidFill>
                  <a:schemeClr val="bg1"/>
                </a:solidFill>
              </a:rPr>
              <a:t>Explicar que en el mundo aeronáutico hay:</a:t>
            </a:r>
          </a:p>
          <a:p>
            <a:r>
              <a:rPr lang="es-ES" sz="800" dirty="0">
                <a:solidFill>
                  <a:schemeClr val="bg1"/>
                </a:solidFill>
              </a:rPr>
              <a:t>enormes volúmenes de datos de sensores</a:t>
            </a:r>
          </a:p>
          <a:p>
            <a:r>
              <a:rPr lang="es-ES" sz="800" dirty="0">
                <a:solidFill>
                  <a:schemeClr val="bg1"/>
                </a:solidFill>
              </a:rPr>
              <a:t>miles de documentos técnicos</a:t>
            </a:r>
          </a:p>
          <a:p>
            <a:r>
              <a:rPr lang="es-ES" sz="800" dirty="0">
                <a:solidFill>
                  <a:schemeClr val="bg1"/>
                </a:solidFill>
              </a:rPr>
              <a:t>normativas complejas</a:t>
            </a:r>
          </a:p>
          <a:p>
            <a:r>
              <a:rPr lang="es-ES" sz="800" dirty="0">
                <a:solidFill>
                  <a:schemeClr val="bg1"/>
                </a:solidFill>
              </a:rPr>
              <a:t>necesidad de decisiones rápidas</a:t>
            </a:r>
          </a:p>
          <a:p>
            <a:r>
              <a:rPr lang="es-ES" sz="800" dirty="0">
                <a:solidFill>
                  <a:schemeClr val="bg1"/>
                </a:solidFill>
              </a:rPr>
              <a:t>falta de integración entre datos y conocimiento</a:t>
            </a:r>
          </a:p>
          <a:p>
            <a:r>
              <a:rPr lang="es-ES" sz="800" b="1" dirty="0">
                <a:solidFill>
                  <a:schemeClr val="bg1"/>
                </a:solidFill>
              </a:rPr>
              <a:t>Mensaje clave</a:t>
            </a:r>
          </a:p>
          <a:p>
            <a:r>
              <a:rPr lang="es-ES" sz="800" dirty="0">
                <a:solidFill>
                  <a:schemeClr val="bg1"/>
                </a:solidFill>
              </a:rPr>
              <a:t>“Hay información valiosa, pero dispersa y difícil de explotar.”</a:t>
            </a:r>
          </a:p>
          <a:p>
            <a:br>
              <a:rPr lang="es-ES" sz="800" dirty="0">
                <a:solidFill>
                  <a:schemeClr val="bg1"/>
                </a:solidFill>
              </a:rPr>
            </a:br>
            <a:endParaRPr lang="es-ES" sz="800" dirty="0">
              <a:solidFill>
                <a:schemeClr val="bg1"/>
              </a:solidFill>
            </a:endParaRPr>
          </a:p>
          <a:p>
            <a:r>
              <a:rPr lang="es-ES" sz="800" b="1" dirty="0">
                <a:solidFill>
                  <a:schemeClr val="bg1"/>
                </a:solidFill>
              </a:rPr>
              <a:t>3. METODOLOGÍA (1:10–1:20)</a:t>
            </a:r>
          </a:p>
          <a:p>
            <a:r>
              <a:rPr lang="es-ES" sz="800" b="1" dirty="0">
                <a:solidFill>
                  <a:schemeClr val="bg1"/>
                </a:solidFill>
              </a:rPr>
              <a:t>Objetivo</a:t>
            </a:r>
          </a:p>
          <a:p>
            <a:r>
              <a:rPr lang="es-ES" sz="800" dirty="0">
                <a:solidFill>
                  <a:schemeClr val="bg1"/>
                </a:solidFill>
              </a:rPr>
              <a:t>Demostrar que aplicaste correctamente las técnicas del máster.</a:t>
            </a:r>
          </a:p>
          <a:p>
            <a:r>
              <a:rPr lang="es-ES" sz="800" b="1" dirty="0">
                <a:solidFill>
                  <a:schemeClr val="bg1"/>
                </a:solidFill>
              </a:rPr>
              <a:t>Contenido</a:t>
            </a:r>
          </a:p>
          <a:p>
            <a:r>
              <a:rPr lang="es-ES" sz="800" dirty="0">
                <a:solidFill>
                  <a:schemeClr val="bg1"/>
                </a:solidFill>
              </a:rPr>
              <a:t>Explicar de forma general:</a:t>
            </a:r>
          </a:p>
          <a:p>
            <a:r>
              <a:rPr lang="es-ES" sz="800" dirty="0">
                <a:solidFill>
                  <a:schemeClr val="bg1"/>
                </a:solidFill>
              </a:rPr>
              <a:t>enfoque basado en datos</a:t>
            </a:r>
          </a:p>
          <a:p>
            <a:r>
              <a:rPr lang="es-ES" sz="800" dirty="0">
                <a:solidFill>
                  <a:schemeClr val="bg1"/>
                </a:solidFill>
              </a:rPr>
              <a:t>arquitectura </a:t>
            </a:r>
            <a:r>
              <a:rPr lang="es-ES" sz="800" dirty="0" err="1">
                <a:solidFill>
                  <a:schemeClr val="bg1"/>
                </a:solidFill>
              </a:rPr>
              <a:t>multiagente</a:t>
            </a:r>
            <a:endParaRPr lang="es-ES" sz="800" dirty="0">
              <a:solidFill>
                <a:schemeClr val="bg1"/>
              </a:solidFill>
            </a:endParaRPr>
          </a:p>
          <a:p>
            <a:r>
              <a:rPr lang="es-ES" sz="800" dirty="0">
                <a:solidFill>
                  <a:schemeClr val="bg1"/>
                </a:solidFill>
              </a:rPr>
              <a:t>combinación de NLP y Deep </a:t>
            </a:r>
            <a:r>
              <a:rPr lang="es-ES" sz="800" dirty="0" err="1">
                <a:solidFill>
                  <a:schemeClr val="bg1"/>
                </a:solidFill>
              </a:rPr>
              <a:t>Learning</a:t>
            </a:r>
            <a:endParaRPr lang="es-ES" sz="800" dirty="0">
              <a:solidFill>
                <a:schemeClr val="bg1"/>
              </a:solidFill>
            </a:endParaRPr>
          </a:p>
          <a:p>
            <a:r>
              <a:rPr lang="es-ES" sz="800" dirty="0">
                <a:solidFill>
                  <a:schemeClr val="bg1"/>
                </a:solidFill>
              </a:rPr>
              <a:t>pipeline de trabajo completo</a:t>
            </a:r>
          </a:p>
          <a:p>
            <a:r>
              <a:rPr lang="es-ES" sz="800" dirty="0">
                <a:solidFill>
                  <a:schemeClr val="bg1"/>
                </a:solidFill>
              </a:rPr>
              <a:t>Este bloque es más conceptual, sin entrar aún en herramientas concretas.</a:t>
            </a:r>
          </a:p>
          <a:p>
            <a:r>
              <a:rPr lang="es-ES" sz="800" b="1" dirty="0">
                <a:solidFill>
                  <a:schemeClr val="bg1"/>
                </a:solidFill>
              </a:rPr>
              <a:t>Mensaje clave</a:t>
            </a:r>
          </a:p>
          <a:p>
            <a:r>
              <a:rPr lang="es-ES" sz="800" dirty="0">
                <a:solidFill>
                  <a:schemeClr val="bg1"/>
                </a:solidFill>
              </a:rPr>
              <a:t>“El proyecto se construye siguiendo un enfoque metodológico riguroso.”</a:t>
            </a:r>
          </a:p>
          <a:p>
            <a:br>
              <a:rPr lang="es-ES" sz="800" dirty="0">
                <a:solidFill>
                  <a:schemeClr val="bg1"/>
                </a:solidFill>
              </a:rPr>
            </a:br>
            <a:endParaRPr lang="es-ES" sz="800" dirty="0">
              <a:solidFill>
                <a:schemeClr val="bg1"/>
              </a:solidFill>
            </a:endParaRPr>
          </a:p>
          <a:p>
            <a:r>
              <a:rPr lang="es-ES" sz="800" b="1" dirty="0">
                <a:solidFill>
                  <a:schemeClr val="bg1"/>
                </a:solidFill>
              </a:rPr>
              <a:t>4. QUÉ USAMOS (45–50 s)</a:t>
            </a:r>
          </a:p>
          <a:p>
            <a:r>
              <a:rPr lang="es-ES" sz="800" dirty="0">
                <a:solidFill>
                  <a:schemeClr val="bg1"/>
                </a:solidFill>
              </a:rPr>
              <a:t>Este bloque es MUY bueno que lo hayas añadido.</a:t>
            </a:r>
          </a:p>
          <a:p>
            <a:r>
              <a:rPr lang="es-ES" sz="800" b="1" dirty="0">
                <a:solidFill>
                  <a:schemeClr val="bg1"/>
                </a:solidFill>
              </a:rPr>
              <a:t>Objetivo</a:t>
            </a:r>
          </a:p>
          <a:p>
            <a:r>
              <a:rPr lang="es-ES" sz="800" dirty="0">
                <a:solidFill>
                  <a:schemeClr val="bg1"/>
                </a:solidFill>
              </a:rPr>
              <a:t>Mostrar claramente las tecnologías y técnicas aplicadas.</a:t>
            </a:r>
          </a:p>
          <a:p>
            <a:r>
              <a:rPr lang="es-ES" sz="800" b="1" dirty="0">
                <a:solidFill>
                  <a:schemeClr val="bg1"/>
                </a:solidFill>
              </a:rPr>
              <a:t>Contenido</a:t>
            </a:r>
          </a:p>
          <a:p>
            <a:r>
              <a:rPr lang="es-ES" sz="800" dirty="0">
                <a:solidFill>
                  <a:schemeClr val="bg1"/>
                </a:solidFill>
              </a:rPr>
              <a:t>Aquí hablas de herramientas reales:</a:t>
            </a:r>
          </a:p>
          <a:p>
            <a:r>
              <a:rPr lang="es-ES" sz="800" dirty="0">
                <a:solidFill>
                  <a:schemeClr val="bg1"/>
                </a:solidFill>
              </a:rPr>
              <a:t>Python</a:t>
            </a:r>
          </a:p>
          <a:p>
            <a:r>
              <a:rPr lang="es-ES" sz="800" dirty="0">
                <a:solidFill>
                  <a:schemeClr val="bg1"/>
                </a:solidFill>
              </a:rPr>
              <a:t>FAISS</a:t>
            </a:r>
          </a:p>
          <a:p>
            <a:r>
              <a:rPr lang="es-ES" sz="800" dirty="0">
                <a:solidFill>
                  <a:schemeClr val="bg1"/>
                </a:solidFill>
              </a:rPr>
              <a:t>LangChain / </a:t>
            </a:r>
            <a:r>
              <a:rPr lang="es-ES" sz="800" dirty="0" err="1">
                <a:solidFill>
                  <a:schemeClr val="bg1"/>
                </a:solidFill>
              </a:rPr>
              <a:t>LangGraph</a:t>
            </a:r>
            <a:endParaRPr lang="es-ES" sz="800" dirty="0">
              <a:solidFill>
                <a:schemeClr val="bg1"/>
              </a:solidFill>
            </a:endParaRPr>
          </a:p>
          <a:p>
            <a:r>
              <a:rPr lang="es-ES" sz="800" dirty="0" err="1">
                <a:solidFill>
                  <a:schemeClr val="bg1"/>
                </a:solidFill>
              </a:rPr>
              <a:t>OpenAI</a:t>
            </a:r>
            <a:r>
              <a:rPr lang="es-ES" sz="800" dirty="0">
                <a:solidFill>
                  <a:schemeClr val="bg1"/>
                </a:solidFill>
              </a:rPr>
              <a:t> </a:t>
            </a:r>
            <a:r>
              <a:rPr lang="es-ES" sz="800" dirty="0" err="1">
                <a:solidFill>
                  <a:schemeClr val="bg1"/>
                </a:solidFill>
              </a:rPr>
              <a:t>Embeddings</a:t>
            </a:r>
            <a:endParaRPr lang="es-ES" sz="800" dirty="0">
              <a:solidFill>
                <a:schemeClr val="bg1"/>
              </a:solidFill>
            </a:endParaRPr>
          </a:p>
          <a:p>
            <a:r>
              <a:rPr lang="es-ES" sz="800" dirty="0" err="1">
                <a:solidFill>
                  <a:schemeClr val="bg1"/>
                </a:solidFill>
              </a:rPr>
              <a:t>PyTorch</a:t>
            </a:r>
            <a:endParaRPr lang="es-ES" sz="800" dirty="0">
              <a:solidFill>
                <a:schemeClr val="bg1"/>
              </a:solidFill>
            </a:endParaRPr>
          </a:p>
          <a:p>
            <a:r>
              <a:rPr lang="es-ES" sz="800" dirty="0" err="1">
                <a:solidFill>
                  <a:schemeClr val="bg1"/>
                </a:solidFill>
              </a:rPr>
              <a:t>Dataset</a:t>
            </a:r>
            <a:r>
              <a:rPr lang="es-ES" sz="800" dirty="0">
                <a:solidFill>
                  <a:schemeClr val="bg1"/>
                </a:solidFill>
              </a:rPr>
              <a:t> CMAPSS</a:t>
            </a:r>
          </a:p>
          <a:p>
            <a:r>
              <a:rPr lang="es-ES" sz="800" dirty="0" err="1">
                <a:solidFill>
                  <a:schemeClr val="bg1"/>
                </a:solidFill>
              </a:rPr>
              <a:t>Scikit-learn</a:t>
            </a:r>
            <a:endParaRPr lang="es-ES" sz="800" dirty="0">
              <a:solidFill>
                <a:schemeClr val="bg1"/>
              </a:solidFill>
            </a:endParaRPr>
          </a:p>
          <a:p>
            <a:r>
              <a:rPr lang="es-ES" sz="800" b="1" dirty="0">
                <a:solidFill>
                  <a:schemeClr val="bg1"/>
                </a:solidFill>
              </a:rPr>
              <a:t>Mensaje clave</a:t>
            </a:r>
          </a:p>
          <a:p>
            <a:r>
              <a:rPr lang="es-ES" sz="800" dirty="0">
                <a:solidFill>
                  <a:schemeClr val="bg1"/>
                </a:solidFill>
              </a:rPr>
              <a:t>“Estas son las herramientas y tecnologías con las que se ha construido el sistema.”</a:t>
            </a:r>
          </a:p>
          <a:p>
            <a:br>
              <a:rPr lang="es-ES" sz="800" dirty="0">
                <a:solidFill>
                  <a:schemeClr val="bg1"/>
                </a:solidFill>
              </a:rPr>
            </a:br>
            <a:endParaRPr lang="es-ES" sz="800" dirty="0">
              <a:solidFill>
                <a:schemeClr val="bg1"/>
              </a:solidFill>
            </a:endParaRPr>
          </a:p>
          <a:p>
            <a:r>
              <a:rPr lang="es-ES" sz="800" b="1" dirty="0">
                <a:solidFill>
                  <a:schemeClr val="bg1"/>
                </a:solidFill>
              </a:rPr>
              <a:t>5. MODELOS (40–50 s)</a:t>
            </a:r>
          </a:p>
          <a:p>
            <a:r>
              <a:rPr lang="es-ES" sz="800" b="1" dirty="0">
                <a:solidFill>
                  <a:schemeClr val="bg1"/>
                </a:solidFill>
              </a:rPr>
              <a:t>Objetivo</a:t>
            </a:r>
          </a:p>
          <a:p>
            <a:r>
              <a:rPr lang="es-ES" sz="800" dirty="0">
                <a:solidFill>
                  <a:schemeClr val="bg1"/>
                </a:solidFill>
              </a:rPr>
              <a:t>Explicar el corazón técnico del proyecto.</a:t>
            </a:r>
          </a:p>
          <a:p>
            <a:r>
              <a:rPr lang="es-ES" sz="800" b="1" dirty="0">
                <a:solidFill>
                  <a:schemeClr val="bg1"/>
                </a:solidFill>
              </a:rPr>
              <a:t>Contenido</a:t>
            </a:r>
          </a:p>
          <a:p>
            <a:r>
              <a:rPr lang="es-ES" sz="800" dirty="0">
                <a:solidFill>
                  <a:schemeClr val="bg1"/>
                </a:solidFill>
              </a:rPr>
              <a:t>Modelos de predicción de RUL</a:t>
            </a:r>
          </a:p>
          <a:p>
            <a:r>
              <a:rPr lang="es-ES" sz="800" dirty="0">
                <a:solidFill>
                  <a:schemeClr val="bg1"/>
                </a:solidFill>
              </a:rPr>
              <a:t>Arquitecturas comparadas:</a:t>
            </a:r>
          </a:p>
          <a:p>
            <a:pPr lvl="1"/>
            <a:r>
              <a:rPr lang="es-ES" sz="800" dirty="0">
                <a:solidFill>
                  <a:schemeClr val="bg1"/>
                </a:solidFill>
              </a:rPr>
              <a:t>RNN</a:t>
            </a:r>
          </a:p>
          <a:p>
            <a:pPr lvl="1"/>
            <a:r>
              <a:rPr lang="es-ES" sz="800" dirty="0">
                <a:solidFill>
                  <a:schemeClr val="bg1"/>
                </a:solidFill>
              </a:rPr>
              <a:t>LSTM</a:t>
            </a:r>
          </a:p>
          <a:p>
            <a:pPr lvl="1"/>
            <a:r>
              <a:rPr lang="es-ES" sz="800" dirty="0">
                <a:solidFill>
                  <a:schemeClr val="bg1"/>
                </a:solidFill>
              </a:rPr>
              <a:t>GRU</a:t>
            </a:r>
          </a:p>
          <a:p>
            <a:r>
              <a:rPr lang="es-ES" sz="800" dirty="0">
                <a:solidFill>
                  <a:schemeClr val="bg1"/>
                </a:solidFill>
              </a:rPr>
              <a:t>Preprocesado</a:t>
            </a:r>
          </a:p>
          <a:p>
            <a:r>
              <a:rPr lang="es-ES" sz="800" dirty="0">
                <a:solidFill>
                  <a:schemeClr val="bg1"/>
                </a:solidFill>
              </a:rPr>
              <a:t>Validación cruzada</a:t>
            </a:r>
          </a:p>
          <a:p>
            <a:r>
              <a:rPr lang="es-ES" sz="800" dirty="0">
                <a:solidFill>
                  <a:schemeClr val="bg1"/>
                </a:solidFill>
              </a:rPr>
              <a:t>Selección del mejor modelo</a:t>
            </a:r>
          </a:p>
          <a:p>
            <a:r>
              <a:rPr lang="es-ES" sz="800" b="1" dirty="0">
                <a:solidFill>
                  <a:schemeClr val="bg1"/>
                </a:solidFill>
              </a:rPr>
              <a:t>Mensaje clave</a:t>
            </a:r>
          </a:p>
          <a:p>
            <a:r>
              <a:rPr lang="es-ES" sz="800" dirty="0">
                <a:solidFill>
                  <a:schemeClr val="bg1"/>
                </a:solidFill>
              </a:rPr>
              <a:t>“No se eligió un modelo al azar: se compararon alternativas de forma rigurosa.”</a:t>
            </a:r>
          </a:p>
          <a:p>
            <a:br>
              <a:rPr lang="es-ES" sz="800" dirty="0">
                <a:solidFill>
                  <a:schemeClr val="bg1"/>
                </a:solidFill>
              </a:rPr>
            </a:br>
            <a:endParaRPr lang="es-ES" sz="800" dirty="0">
              <a:solidFill>
                <a:schemeClr val="bg1"/>
              </a:solidFill>
            </a:endParaRPr>
          </a:p>
          <a:p>
            <a:r>
              <a:rPr lang="es-ES" sz="800" b="1" dirty="0">
                <a:solidFill>
                  <a:schemeClr val="bg1"/>
                </a:solidFill>
              </a:rPr>
              <a:t>6. EVALUACIÓN DE MODELOS Y MÉTRICAS (40–45 s)</a:t>
            </a:r>
          </a:p>
          <a:p>
            <a:r>
              <a:rPr lang="es-ES" sz="800" b="1" dirty="0">
                <a:solidFill>
                  <a:schemeClr val="bg1"/>
                </a:solidFill>
              </a:rPr>
              <a:t>Objetivo</a:t>
            </a:r>
          </a:p>
          <a:p>
            <a:r>
              <a:rPr lang="es-ES" sz="800" dirty="0">
                <a:solidFill>
                  <a:schemeClr val="bg1"/>
                </a:solidFill>
              </a:rPr>
              <a:t>Aportar evidencia cuantitativa.</a:t>
            </a:r>
          </a:p>
          <a:p>
            <a:r>
              <a:rPr lang="es-ES" sz="800" b="1" dirty="0">
                <a:solidFill>
                  <a:schemeClr val="bg1"/>
                </a:solidFill>
              </a:rPr>
              <a:t>Contenido</a:t>
            </a:r>
          </a:p>
          <a:p>
            <a:r>
              <a:rPr lang="es-ES" sz="800" dirty="0">
                <a:solidFill>
                  <a:schemeClr val="bg1"/>
                </a:solidFill>
              </a:rPr>
              <a:t>Métricas utilizadas:</a:t>
            </a:r>
          </a:p>
          <a:p>
            <a:pPr lvl="1"/>
            <a:r>
              <a:rPr lang="es-ES" sz="800" dirty="0">
                <a:solidFill>
                  <a:schemeClr val="bg1"/>
                </a:solidFill>
              </a:rPr>
              <a:t>RMSE</a:t>
            </a:r>
          </a:p>
          <a:p>
            <a:pPr lvl="1"/>
            <a:r>
              <a:rPr lang="es-ES" sz="800" dirty="0">
                <a:solidFill>
                  <a:schemeClr val="bg1"/>
                </a:solidFill>
              </a:rPr>
              <a:t>MAE</a:t>
            </a:r>
          </a:p>
          <a:p>
            <a:pPr lvl="1"/>
            <a:r>
              <a:rPr lang="es-ES" sz="800" dirty="0">
                <a:solidFill>
                  <a:schemeClr val="bg1"/>
                </a:solidFill>
              </a:rPr>
              <a:t>NASA Score</a:t>
            </a:r>
          </a:p>
          <a:p>
            <a:r>
              <a:rPr lang="es-ES" sz="800" dirty="0">
                <a:solidFill>
                  <a:schemeClr val="bg1"/>
                </a:solidFill>
              </a:rPr>
              <a:t>Resultados obtenidos</a:t>
            </a:r>
          </a:p>
          <a:p>
            <a:r>
              <a:rPr lang="es-ES" sz="800" dirty="0">
                <a:solidFill>
                  <a:schemeClr val="bg1"/>
                </a:solidFill>
              </a:rPr>
              <a:t>Estabilidad del modelo GRU</a:t>
            </a:r>
          </a:p>
          <a:p>
            <a:r>
              <a:rPr lang="es-ES" sz="800" dirty="0">
                <a:solidFill>
                  <a:schemeClr val="bg1"/>
                </a:solidFill>
              </a:rPr>
              <a:t>Justificación de la elección final</a:t>
            </a:r>
          </a:p>
          <a:p>
            <a:r>
              <a:rPr lang="es-ES" sz="800" b="1" dirty="0">
                <a:solidFill>
                  <a:schemeClr val="bg1"/>
                </a:solidFill>
              </a:rPr>
              <a:t>Mensaje clave</a:t>
            </a:r>
          </a:p>
          <a:p>
            <a:r>
              <a:rPr lang="es-ES" sz="800" dirty="0">
                <a:solidFill>
                  <a:schemeClr val="bg1"/>
                </a:solidFill>
              </a:rPr>
              <a:t>“Las decisiones están basadas en datos y métricas objetivas.”</a:t>
            </a:r>
          </a:p>
          <a:p>
            <a:br>
              <a:rPr lang="es-ES" sz="800" dirty="0">
                <a:solidFill>
                  <a:schemeClr val="bg1"/>
                </a:solidFill>
              </a:rPr>
            </a:br>
            <a:endParaRPr lang="es-ES" sz="800" dirty="0">
              <a:solidFill>
                <a:schemeClr val="bg1"/>
              </a:solidFill>
            </a:endParaRPr>
          </a:p>
          <a:p>
            <a:r>
              <a:rPr lang="es-ES" sz="800" b="1" dirty="0">
                <a:solidFill>
                  <a:schemeClr val="bg1"/>
                </a:solidFill>
              </a:rPr>
              <a:t>7. DEMOSTRACIÓN EN VIVO (1:20–1:30)</a:t>
            </a:r>
          </a:p>
          <a:p>
            <a:r>
              <a:rPr lang="es-ES" sz="800" b="1" dirty="0">
                <a:solidFill>
                  <a:schemeClr val="bg1"/>
                </a:solidFill>
              </a:rPr>
              <a:t>Objetivo</a:t>
            </a:r>
          </a:p>
          <a:p>
            <a:r>
              <a:rPr lang="es-ES" sz="800" dirty="0">
                <a:solidFill>
                  <a:schemeClr val="bg1"/>
                </a:solidFill>
              </a:rPr>
              <a:t>Impactar y demostrar que es real.</a:t>
            </a:r>
          </a:p>
          <a:p>
            <a:r>
              <a:rPr lang="es-ES" sz="800" b="1" dirty="0">
                <a:solidFill>
                  <a:schemeClr val="bg1"/>
                </a:solidFill>
              </a:rPr>
              <a:t>Contenido</a:t>
            </a:r>
          </a:p>
          <a:p>
            <a:r>
              <a:rPr lang="es-ES" sz="800" dirty="0">
                <a:solidFill>
                  <a:schemeClr val="bg1"/>
                </a:solidFill>
              </a:rPr>
              <a:t>Mostrar en pantalla:</a:t>
            </a:r>
          </a:p>
          <a:p>
            <a:r>
              <a:rPr lang="es-ES" sz="800" dirty="0">
                <a:solidFill>
                  <a:schemeClr val="bg1"/>
                </a:solidFill>
              </a:rPr>
              <a:t>Interfaz de AeroGPT</a:t>
            </a:r>
          </a:p>
          <a:p>
            <a:r>
              <a:rPr lang="es-ES" sz="800" dirty="0">
                <a:solidFill>
                  <a:schemeClr val="bg1"/>
                </a:solidFill>
              </a:rPr>
              <a:t>Introducción de un </a:t>
            </a:r>
            <a:r>
              <a:rPr lang="es-ES" sz="800" dirty="0" err="1">
                <a:solidFill>
                  <a:schemeClr val="bg1"/>
                </a:solidFill>
              </a:rPr>
              <a:t>prompt</a:t>
            </a:r>
            <a:endParaRPr lang="es-ES" sz="800" dirty="0">
              <a:solidFill>
                <a:schemeClr val="bg1"/>
              </a:solidFill>
            </a:endParaRPr>
          </a:p>
          <a:p>
            <a:r>
              <a:rPr lang="es-ES" sz="800" dirty="0">
                <a:solidFill>
                  <a:schemeClr val="bg1"/>
                </a:solidFill>
              </a:rPr>
              <a:t>Predicción del RUL</a:t>
            </a:r>
          </a:p>
          <a:p>
            <a:r>
              <a:rPr lang="es-ES" sz="800" dirty="0">
                <a:solidFill>
                  <a:schemeClr val="bg1"/>
                </a:solidFill>
              </a:rPr>
              <a:t>Análisis de criticidad</a:t>
            </a:r>
          </a:p>
          <a:p>
            <a:r>
              <a:rPr lang="es-ES" sz="800" dirty="0">
                <a:solidFill>
                  <a:schemeClr val="bg1"/>
                </a:solidFill>
              </a:rPr>
              <a:t>Recomendación final</a:t>
            </a:r>
          </a:p>
          <a:p>
            <a:r>
              <a:rPr lang="es-ES" sz="800" b="1" dirty="0">
                <a:solidFill>
                  <a:schemeClr val="bg1"/>
                </a:solidFill>
              </a:rPr>
              <a:t>Mensaje clave</a:t>
            </a:r>
          </a:p>
          <a:p>
            <a:r>
              <a:rPr lang="es-ES" sz="800" dirty="0">
                <a:solidFill>
                  <a:schemeClr val="bg1"/>
                </a:solidFill>
              </a:rPr>
              <a:t>“Esto es un sistema funcional, no solo teoría.”</a:t>
            </a:r>
          </a:p>
          <a:p>
            <a:br>
              <a:rPr lang="es-ES" sz="800" dirty="0">
                <a:solidFill>
                  <a:schemeClr val="bg1"/>
                </a:solidFill>
              </a:rPr>
            </a:br>
            <a:endParaRPr lang="es-ES" sz="800" dirty="0">
              <a:solidFill>
                <a:schemeClr val="bg1"/>
              </a:solidFill>
            </a:endParaRPr>
          </a:p>
          <a:p>
            <a:r>
              <a:rPr lang="es-ES" sz="800" b="1" dirty="0">
                <a:solidFill>
                  <a:schemeClr val="bg1"/>
                </a:solidFill>
              </a:rPr>
              <a:t>8. INNOVACIÓN Y CIERRE (25–30 s)</a:t>
            </a:r>
          </a:p>
          <a:p>
            <a:r>
              <a:rPr lang="es-ES" sz="800" b="1" dirty="0">
                <a:solidFill>
                  <a:schemeClr val="bg1"/>
                </a:solidFill>
              </a:rPr>
              <a:t>Objetivo</a:t>
            </a:r>
          </a:p>
          <a:p>
            <a:r>
              <a:rPr lang="es-ES" sz="800" dirty="0">
                <a:solidFill>
                  <a:schemeClr val="bg1"/>
                </a:solidFill>
              </a:rPr>
              <a:t>Rematar el vídeo con un mensaje potente.</a:t>
            </a:r>
          </a:p>
          <a:p>
            <a:r>
              <a:rPr lang="es-ES" sz="800" b="1" dirty="0">
                <a:solidFill>
                  <a:schemeClr val="bg1"/>
                </a:solidFill>
              </a:rPr>
              <a:t>Contenido</a:t>
            </a:r>
          </a:p>
          <a:p>
            <a:r>
              <a:rPr lang="es-ES" sz="800" dirty="0">
                <a:solidFill>
                  <a:schemeClr val="bg1"/>
                </a:solidFill>
              </a:rPr>
              <a:t>Integración RAG + Deep </a:t>
            </a:r>
            <a:r>
              <a:rPr lang="es-ES" sz="800" dirty="0" err="1">
                <a:solidFill>
                  <a:schemeClr val="bg1"/>
                </a:solidFill>
              </a:rPr>
              <a:t>Learning</a:t>
            </a:r>
            <a:endParaRPr lang="es-ES" sz="800" dirty="0">
              <a:solidFill>
                <a:schemeClr val="bg1"/>
              </a:solidFill>
            </a:endParaRPr>
          </a:p>
          <a:p>
            <a:r>
              <a:rPr lang="es-ES" sz="800" dirty="0">
                <a:solidFill>
                  <a:schemeClr val="bg1"/>
                </a:solidFill>
              </a:rPr>
              <a:t>Arquitectura </a:t>
            </a:r>
            <a:r>
              <a:rPr lang="es-ES" sz="800" dirty="0" err="1">
                <a:solidFill>
                  <a:schemeClr val="bg1"/>
                </a:solidFill>
              </a:rPr>
              <a:t>multiagente</a:t>
            </a:r>
            <a:endParaRPr lang="es-ES" sz="800" dirty="0">
              <a:solidFill>
                <a:schemeClr val="bg1"/>
              </a:solidFill>
            </a:endParaRPr>
          </a:p>
          <a:p>
            <a:r>
              <a:rPr lang="es-ES" sz="800" dirty="0">
                <a:solidFill>
                  <a:schemeClr val="bg1"/>
                </a:solidFill>
              </a:rPr>
              <a:t>Aplicación a un entorno crítico</a:t>
            </a:r>
          </a:p>
          <a:p>
            <a:r>
              <a:rPr lang="es-ES" sz="800" dirty="0">
                <a:solidFill>
                  <a:schemeClr val="bg1"/>
                </a:solidFill>
              </a:rPr>
              <a:t>Valor práctico del proyecto</a:t>
            </a:r>
          </a:p>
          <a:p>
            <a:r>
              <a:rPr lang="es-ES" sz="800" b="1" dirty="0">
                <a:solidFill>
                  <a:schemeClr val="bg1"/>
                </a:solidFill>
              </a:rPr>
              <a:t>Mensaje final</a:t>
            </a:r>
          </a:p>
          <a:p>
            <a:r>
              <a:rPr lang="es-ES" sz="800" dirty="0">
                <a:solidFill>
                  <a:schemeClr val="bg1"/>
                </a:solidFill>
              </a:rPr>
              <a:t>“Un ejemplo real de aplicación de lo aprendido en el máster.”</a:t>
            </a:r>
          </a:p>
          <a:p>
            <a:pPr>
              <a:defRPr sz="2000">
                <a:solidFill>
                  <a:srgbClr val="EBEBEB"/>
                </a:solidFill>
              </a:defRPr>
            </a:pPr>
            <a:endParaRPr sz="280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6360" y="6446519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BEBEB"/>
                </a:solidFill>
              </a:defRPr>
            </a:pPr>
            <a:r>
              <a:rPr dirty="0"/>
              <a:t>AeroGPT – David Carrera Pintor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595360" y="6348104"/>
            <a:ext cx="432280" cy="47115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81720" y="6492239"/>
            <a:ext cx="10972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presentation_slide_for_AeroGPT,_a_project_re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21290-8180-D686-16FB-73F3953CB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900E90-2C26-2FE7-A56F-4A6734479641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7BFEDA6-7AB6-5832-42F4-F907EF749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9144000" cy="62109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5AE422B-C9F6-74EF-45C6-B7B9D597575F}"/>
              </a:ext>
            </a:extLst>
          </p:cNvPr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5C6F6D-CA19-FEA6-24F1-6035975DCA36}"/>
              </a:ext>
            </a:extLst>
          </p:cNvPr>
          <p:cNvSpPr txBox="1"/>
          <p:nvPr/>
        </p:nvSpPr>
        <p:spPr>
          <a:xfrm>
            <a:off x="116360" y="6446519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BEBEB"/>
                </a:solidFill>
              </a:defRPr>
            </a:pPr>
            <a:r>
              <a:rPr dirty="0"/>
              <a:t>AeroGPT – David Carrera Pintor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BADE06-0E37-AAB1-702E-3BC85F8642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95360" y="6348104"/>
            <a:ext cx="432280" cy="4711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FF1FE4-9B78-4D37-0B94-9241C85FA7C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81720" y="6492239"/>
            <a:ext cx="1097280" cy="18288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9A27520-EB0E-80B8-6097-89FAA6B80E9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0" y="830179"/>
            <a:ext cx="9144000" cy="5448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941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0F07D-3DBB-5144-41F8-36EEE89BF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Diagrama&#10;&#10;El contenido generado por IA puede ser incorrecto.">
            <a:extLst>
              <a:ext uri="{FF2B5EF4-FFF2-40B4-BE49-F238E27FC236}">
                <a16:creationId xmlns:a16="http://schemas.microsoft.com/office/drawing/2014/main" id="{037B1244-90B8-5D39-3B2E-CD6A8EA37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"/>
            <a:ext cx="9144000" cy="6096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9F6F54A-419E-46A9-026D-4C7F312AA5D1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AA74FE-FC02-8761-62F2-8D2C3B9F491D}"/>
              </a:ext>
            </a:extLst>
          </p:cNvPr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0021BB-964B-DB4B-9C0D-C7DF1FF72C33}"/>
              </a:ext>
            </a:extLst>
          </p:cNvPr>
          <p:cNvSpPr txBox="1"/>
          <p:nvPr/>
        </p:nvSpPr>
        <p:spPr>
          <a:xfrm>
            <a:off x="116360" y="6446519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BEBEB"/>
                </a:solidFill>
              </a:defRPr>
            </a:pPr>
            <a:r>
              <a:rPr dirty="0"/>
              <a:t>AeroGPT – David Carrera Pintor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70EE55-21E8-749E-05FF-29035EA419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95360" y="6348104"/>
            <a:ext cx="432280" cy="4711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AC34BC-AED2-BA37-EC49-D27673A418D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81720" y="6492239"/>
            <a:ext cx="1097280" cy="182880"/>
          </a:xfrm>
          <a:prstGeom prst="rect">
            <a:avLst/>
          </a:prstGeom>
        </p:spPr>
      </p:pic>
      <p:pic>
        <p:nvPicPr>
          <p:cNvPr id="11" name="Imagen 10" descr="Diagrama&#10;&#10;El contenido generado por IA puede ser incorrecto.">
            <a:extLst>
              <a:ext uri="{FF2B5EF4-FFF2-40B4-BE49-F238E27FC236}">
                <a16:creationId xmlns:a16="http://schemas.microsoft.com/office/drawing/2014/main" id="{6E0F8E18-AB93-B4A9-7394-FD42637A2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287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303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098F1-3618-8F32-237E-B4CE4B842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Diagrama&#10;&#10;El contenido generado por IA puede ser incorrecto.">
            <a:extLst>
              <a:ext uri="{FF2B5EF4-FFF2-40B4-BE49-F238E27FC236}">
                <a16:creationId xmlns:a16="http://schemas.microsoft.com/office/drawing/2014/main" id="{BA894FD6-8412-8F8B-3DA7-9B69BECD5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"/>
            <a:ext cx="9144000" cy="6096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0011DEB-24D7-38D4-BEE8-47F27A919716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6AE44D-C5FC-5CC8-4ECC-F7C9918A2E80}"/>
              </a:ext>
            </a:extLst>
          </p:cNvPr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EA336-46C0-0B99-5FA7-A5CA86AFA34E}"/>
              </a:ext>
            </a:extLst>
          </p:cNvPr>
          <p:cNvSpPr txBox="1"/>
          <p:nvPr/>
        </p:nvSpPr>
        <p:spPr>
          <a:xfrm>
            <a:off x="116360" y="6446519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BEBEB"/>
                </a:solidFill>
              </a:defRPr>
            </a:pPr>
            <a:r>
              <a:rPr dirty="0"/>
              <a:t>AeroGPT – David Carrera Pintor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AD53CF-F23C-B101-F1DA-E1A620A548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95360" y="6348104"/>
            <a:ext cx="432280" cy="4711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602EA3-4CFA-966B-506B-905C04FD0C9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81720" y="6492239"/>
            <a:ext cx="1097280" cy="18288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37C5CBB-C463-08E7-9ABD-3A20E77359D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075"/>
          <a:stretch>
            <a:fillRect/>
          </a:stretch>
        </p:blipFill>
        <p:spPr>
          <a:xfrm>
            <a:off x="0" y="0"/>
            <a:ext cx="9144000" cy="6316399"/>
          </a:xfrm>
          <a:prstGeom prst="rect">
            <a:avLst/>
          </a:prstGeom>
        </p:spPr>
      </p:pic>
      <p:graphicFrame>
        <p:nvGraphicFramePr>
          <p:cNvPr id="37" name="Tabla 36">
            <a:extLst>
              <a:ext uri="{FF2B5EF4-FFF2-40B4-BE49-F238E27FC236}">
                <a16:creationId xmlns:a16="http://schemas.microsoft.com/office/drawing/2014/main" id="{B1C10F13-7C99-744C-09DC-C55E378D76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777167"/>
              </p:ext>
            </p:extLst>
          </p:nvPr>
        </p:nvGraphicFramePr>
        <p:xfrm>
          <a:off x="2760593" y="967853"/>
          <a:ext cx="6366014" cy="4526053"/>
        </p:xfrm>
        <a:graphic>
          <a:graphicData uri="http://schemas.openxmlformats.org/drawingml/2006/table">
            <a:tbl>
              <a:tblPr/>
              <a:tblGrid>
                <a:gridCol w="620032">
                  <a:extLst>
                    <a:ext uri="{9D8B030D-6E8A-4147-A177-3AD203B41FA5}">
                      <a16:colId xmlns:a16="http://schemas.microsoft.com/office/drawing/2014/main" val="1572936165"/>
                    </a:ext>
                  </a:extLst>
                </a:gridCol>
                <a:gridCol w="1036949">
                  <a:extLst>
                    <a:ext uri="{9D8B030D-6E8A-4147-A177-3AD203B41FA5}">
                      <a16:colId xmlns:a16="http://schemas.microsoft.com/office/drawing/2014/main" val="231438629"/>
                    </a:ext>
                  </a:extLst>
                </a:gridCol>
                <a:gridCol w="759004">
                  <a:extLst>
                    <a:ext uri="{9D8B030D-6E8A-4147-A177-3AD203B41FA5}">
                      <a16:colId xmlns:a16="http://schemas.microsoft.com/office/drawing/2014/main" val="1102323958"/>
                    </a:ext>
                  </a:extLst>
                </a:gridCol>
                <a:gridCol w="849871">
                  <a:extLst>
                    <a:ext uri="{9D8B030D-6E8A-4147-A177-3AD203B41FA5}">
                      <a16:colId xmlns:a16="http://schemas.microsoft.com/office/drawing/2014/main" val="3843642307"/>
                    </a:ext>
                  </a:extLst>
                </a:gridCol>
                <a:gridCol w="571926">
                  <a:extLst>
                    <a:ext uri="{9D8B030D-6E8A-4147-A177-3AD203B41FA5}">
                      <a16:colId xmlns:a16="http://schemas.microsoft.com/office/drawing/2014/main" val="2468645960"/>
                    </a:ext>
                  </a:extLst>
                </a:gridCol>
                <a:gridCol w="2528232">
                  <a:extLst>
                    <a:ext uri="{9D8B030D-6E8A-4147-A177-3AD203B41FA5}">
                      <a16:colId xmlns:a16="http://schemas.microsoft.com/office/drawing/2014/main" val="4806628"/>
                    </a:ext>
                  </a:extLst>
                </a:gridCol>
              </a:tblGrid>
              <a:tr h="2164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700" b="1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Agente</a:t>
                      </a:r>
                    </a:p>
                  </a:txBody>
                  <a:tcPr marL="3207" marR="3207" marT="3207" marB="0" anchor="ctr">
                    <a:lnL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700" b="1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Utilidad del Agente</a:t>
                      </a:r>
                    </a:p>
                  </a:txBody>
                  <a:tcPr marL="3207" marR="3207" marT="3207" marB="0" anchor="ctr">
                    <a:lnL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700" b="1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Vector Store(s)</a:t>
                      </a:r>
                    </a:p>
                  </a:txBody>
                  <a:tcPr marL="3207" marR="3207" marT="3207" marB="0" anchor="ctr">
                    <a:lnL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700" b="1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Documentos que lo generan</a:t>
                      </a:r>
                    </a:p>
                  </a:txBody>
                  <a:tcPr marL="3207" marR="3207" marT="3207" marB="0" anchor="ctr">
                    <a:lnL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700" b="1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Técnicas</a:t>
                      </a:r>
                    </a:p>
                  </a:txBody>
                  <a:tcPr marL="3207" marR="3207" marT="3207" marB="0" anchor="ctr">
                    <a:lnL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700" b="1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Ejemplo de Salida</a:t>
                      </a:r>
                    </a:p>
                  </a:txBody>
                  <a:tcPr marL="3207" marR="3207" marT="3207" marB="0" anchor="ctr">
                    <a:lnL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8755612"/>
                  </a:ext>
                </a:extLst>
              </a:tr>
              <a:tr h="14111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700" b="1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Regulacion</a:t>
                      </a:r>
                    </a:p>
                  </a:txBody>
                  <a:tcPr marL="3207" marR="3207" marT="3207" marB="0" anchor="ctr">
                    <a:lnL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Analiza normativas FAA/EASA y evalúa aplicabilidad y riesgo de cumplimiento.</a:t>
                      </a:r>
                    </a:p>
                  </a:txBody>
                  <a:tcPr marL="3207" marR="3207" marT="3207" marB="0" anchor="ctr">
                    <a:lnL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500" b="0" i="0" u="none" strike="noStrike" dirty="0" err="1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regulatory_store</a:t>
                      </a:r>
                      <a:endParaRPr lang="es-ES" sz="500" b="0" i="0" u="none" strike="noStrike" dirty="0">
                        <a:solidFill>
                          <a:srgbClr val="EAF2FF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3207" marR="3207" marT="3207" marB="0" anchor="ctr">
                    <a:lnL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FAA ACs, EASA CS</a:t>
                      </a:r>
                    </a:p>
                  </a:txBody>
                  <a:tcPr marL="3207" marR="3207" marT="3207" marB="0" anchor="ctr">
                    <a:lnL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FAISS + similarity search</a:t>
                      </a:r>
                    </a:p>
                  </a:txBody>
                  <a:tcPr marL="3207" marR="3207" marT="3207" marB="0" anchor="ctr">
                    <a:lnL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3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{</a:t>
                      </a:r>
                      <a:b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"</a:t>
                      </a:r>
                      <a:r>
                        <a:rPr lang="es-ES" sz="500" b="1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applicability</a:t>
                      </a: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": ["CS-25"],</a:t>
                      </a:r>
                      <a:b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"</a:t>
                      </a:r>
                      <a:r>
                        <a:rPr lang="es-ES" sz="500" b="1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aircraft</a:t>
                      </a: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_</a:t>
                      </a:r>
                      <a:r>
                        <a:rPr lang="es-ES" sz="500" b="1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applicability</a:t>
                      </a: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": true,</a:t>
                      </a:r>
                      <a:b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"</a:t>
                      </a:r>
                      <a:r>
                        <a:rPr lang="es-ES" sz="500" b="1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dispatch</a:t>
                      </a: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_</a:t>
                      </a:r>
                      <a:r>
                        <a:rPr lang="es-ES" sz="500" b="1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relevance</a:t>
                      </a: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": false,</a:t>
                      </a:r>
                      <a:b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"</a:t>
                      </a:r>
                      <a:r>
                        <a:rPr lang="es-ES" sz="500" b="1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regulations</a:t>
                      </a: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": [</a:t>
                      </a:r>
                      <a:b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  {</a:t>
                      </a:r>
                      <a:b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    "authority": "EASA",</a:t>
                      </a:r>
                      <a:b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    "reference": "CS 25.1309",</a:t>
                      </a:r>
                      <a:b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    "topic": "System safety",</a:t>
                      </a:r>
                      <a:b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    "constraint": "Evaluación..."</a:t>
                      </a:r>
                      <a:b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  }</a:t>
                      </a:r>
                      <a:b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],</a:t>
                      </a:r>
                      <a:b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"</a:t>
                      </a:r>
                      <a:r>
                        <a:rPr lang="es-ES" sz="500" b="1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operational</a:t>
                      </a: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_</a:t>
                      </a:r>
                      <a:r>
                        <a:rPr lang="es-ES" sz="500" b="1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limitations</a:t>
                      </a: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":,</a:t>
                      </a:r>
                      <a:b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"</a:t>
                      </a:r>
                      <a:r>
                        <a:rPr lang="es-ES" sz="500" b="1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compliance</a:t>
                      </a: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_</a:t>
                      </a:r>
                      <a:r>
                        <a:rPr lang="es-ES" sz="500" b="1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risk</a:t>
                      </a: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": "LOW",</a:t>
                      </a:r>
                      <a:b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"</a:t>
                      </a:r>
                      <a:r>
                        <a:rPr lang="es-ES" sz="500" b="1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summary</a:t>
                      </a: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": "Según CS 25.1309 y... </a:t>
                      </a:r>
                      <a:b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}</a:t>
                      </a:r>
                    </a:p>
                  </a:txBody>
                  <a:tcPr marL="3207" marR="3207" marT="3207" marB="0">
                    <a:lnL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818921"/>
                  </a:ext>
                </a:extLst>
              </a:tr>
              <a:tr h="3688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700" b="1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Técnico</a:t>
                      </a:r>
                    </a:p>
                  </a:txBody>
                  <a:tcPr marL="3207" marR="3207" marT="3207" marB="0" anchor="ctr">
                    <a:lnL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Realiza análisis técnicos y explicativos sobre sistemas aeronáuticos y mantenimiento.</a:t>
                      </a:r>
                    </a:p>
                  </a:txBody>
                  <a:tcPr marL="3207" marR="3207" marT="3207" marB="0" anchor="ctr">
                    <a:lnL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technical_store</a:t>
                      </a:r>
                    </a:p>
                  </a:txBody>
                  <a:tcPr marL="3207" marR="3207" marT="3207" marB="0" anchor="ctr">
                    <a:lnL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Airbus FAST, AMM/Acs, EASA/FAA</a:t>
                      </a:r>
                    </a:p>
                  </a:txBody>
                  <a:tcPr marL="3207" marR="3207" marT="3207" marB="0" anchor="ctr">
                    <a:lnL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FAISS + MMR</a:t>
                      </a:r>
                    </a:p>
                  </a:txBody>
                  <a:tcPr marL="3207" marR="3207" marT="3207" marB="0" anchor="ctr">
                    <a:lnL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3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{</a:t>
                      </a:r>
                      <a:b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"No se identifica condición de fallo. </a:t>
                      </a:r>
                      <a:b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El sistema BLEED opera normalmente."</a:t>
                      </a:r>
                      <a:b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}</a:t>
                      </a:r>
                    </a:p>
                  </a:txBody>
                  <a:tcPr marL="3207" marR="3207" marT="3207" marB="0">
                    <a:lnL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244762"/>
                  </a:ext>
                </a:extLst>
              </a:tr>
              <a:tr h="11465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700" b="1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Criticidad</a:t>
                      </a:r>
                    </a:p>
                  </a:txBody>
                  <a:tcPr marL="3207" marR="3207" marT="3207" marB="0" anchor="ctr">
                    <a:lnL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Evalúa criticidad operacional y determina severidad y si permite el dispatch.</a:t>
                      </a:r>
                    </a:p>
                  </a:txBody>
                  <a:tcPr marL="3207" marR="3207" marT="3207" marB="0" anchor="ctr">
                    <a:lnL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asrs_store, sdr_store, regulatory_store, technical_store</a:t>
                      </a:r>
                    </a:p>
                  </a:txBody>
                  <a:tcPr marL="3207" marR="3207" marT="3207" marB="0" anchor="ctr">
                    <a:lnL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ASRS, SDR, FAA ACs, EASA CS, Airbus FAST</a:t>
                      </a:r>
                    </a:p>
                  </a:txBody>
                  <a:tcPr marL="3207" marR="3207" marT="3207" marB="0" anchor="ctr">
                    <a:lnL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MMR multi-vectorstores</a:t>
                      </a:r>
                    </a:p>
                  </a:txBody>
                  <a:tcPr marL="3207" marR="3207" marT="3207" marB="0" anchor="ctr">
                    <a:lnL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3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{</a:t>
                      </a:r>
                      <a:b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"</a:t>
                      </a:r>
                      <a:r>
                        <a:rPr lang="es-ES" sz="500" b="1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affected_system</a:t>
                      </a: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": "Electrical generation",</a:t>
                      </a:r>
                      <a:b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"</a:t>
                      </a:r>
                      <a:r>
                        <a:rPr lang="es-ES" sz="500" b="1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flight</a:t>
                      </a: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_</a:t>
                      </a:r>
                      <a:r>
                        <a:rPr lang="es-ES" sz="500" b="1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phase</a:t>
                      </a: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": "Cruise",</a:t>
                      </a:r>
                      <a:b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"</a:t>
                      </a:r>
                      <a:r>
                        <a:rPr lang="es-ES" sz="500" b="1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severity</a:t>
                      </a: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": "HIGH",</a:t>
                      </a:r>
                      <a:b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"</a:t>
                      </a:r>
                      <a:r>
                        <a:rPr lang="es-ES" sz="500" b="1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operational</a:t>
                      </a: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_</a:t>
                      </a:r>
                      <a:r>
                        <a:rPr lang="es-ES" sz="500" b="1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risk</a:t>
                      </a: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": "Pérdida parcial de generación con riesgo de…”</a:t>
                      </a:r>
                      <a:b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"</a:t>
                      </a:r>
                      <a:r>
                        <a:rPr lang="es-ES" sz="500" b="1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references</a:t>
                      </a: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": [</a:t>
                      </a:r>
                      <a:b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  "ASRS report 12345: pérdida intermitente de generador",</a:t>
                      </a:r>
                      <a:b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  "SDR 67890: fallo de excitador"</a:t>
                      </a:r>
                      <a:b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],</a:t>
                      </a:r>
                      <a:b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"</a:t>
                      </a:r>
                      <a:r>
                        <a:rPr lang="es-ES" sz="500" b="1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recommendations</a:t>
                      </a: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": [</a:t>
                      </a:r>
                      <a:b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  "Proceder a ...",...</a:t>
                      </a:r>
                      <a:b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]</a:t>
                      </a:r>
                      <a:b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}</a:t>
                      </a:r>
                    </a:p>
                  </a:txBody>
                  <a:tcPr marL="3207" marR="3207" marT="3207" marB="0">
                    <a:lnL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21759"/>
                  </a:ext>
                </a:extLst>
              </a:tr>
              <a:tr h="1383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700" b="1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Reparación</a:t>
                      </a:r>
                    </a:p>
                  </a:txBody>
                  <a:tcPr marL="3207" marR="3207" marT="3207" marB="0" anchor="ctr">
                    <a:lnL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Genera un plan de reparación accionable basado en info técnica y normativa.</a:t>
                      </a:r>
                    </a:p>
                  </a:txBody>
                  <a:tcPr marL="3207" marR="3207" marT="3207" marB="0" anchor="ctr">
                    <a:lnL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asrs_store, sdr_store, regulatory_store, technical_store</a:t>
                      </a:r>
                    </a:p>
                  </a:txBody>
                  <a:tcPr marL="3207" marR="3207" marT="3207" marB="0" anchor="ctr">
                    <a:lnL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ASRS, SDR, FAA ACs, EASA CS, Airbus FAST</a:t>
                      </a:r>
                    </a:p>
                  </a:txBody>
                  <a:tcPr marL="3207" marR="3207" marT="3207" marB="0" anchor="ctr">
                    <a:lnL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500" b="0" i="0" u="none" strike="noStrike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MMR multi-vectorstores</a:t>
                      </a:r>
                    </a:p>
                  </a:txBody>
                  <a:tcPr marL="3207" marR="3207" marT="3207" marB="0" anchor="ctr">
                    <a:lnL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3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"{</a:t>
                      </a:r>
                      <a:b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 ""</a:t>
                      </a:r>
                      <a:r>
                        <a:rPr lang="es-ES" sz="500" b="1" i="0" u="none" strike="noStrike" dirty="0" err="1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system_affected</a:t>
                      </a:r>
                      <a: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"": ""</a:t>
                      </a:r>
                      <a:r>
                        <a:rPr lang="es-ES" sz="500" b="0" i="0" u="none" strike="noStrike" dirty="0" err="1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Hydraulic</a:t>
                      </a:r>
                      <a: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es-ES" sz="500" b="0" i="0" u="none" strike="noStrike" dirty="0" err="1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system</a:t>
                      </a:r>
                      <a: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(ATA 29)"",</a:t>
                      </a:r>
                      <a:b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 ""</a:t>
                      </a:r>
                      <a:r>
                        <a:rPr lang="es-ES" sz="500" b="1" i="0" u="none" strike="noStrike" dirty="0" err="1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flight</a:t>
                      </a:r>
                      <a:r>
                        <a:rPr lang="es-ES" sz="500" b="0" i="0" u="none" strike="noStrike" dirty="0" err="1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_</a:t>
                      </a:r>
                      <a:r>
                        <a:rPr lang="es-ES" sz="500" b="1" i="0" u="none" strike="noStrike" dirty="0" err="1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phase</a:t>
                      </a:r>
                      <a: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"": ""</a:t>
                      </a:r>
                      <a:r>
                        <a:rPr lang="es-ES" sz="500" b="0" i="0" u="none" strike="noStrike" dirty="0" err="1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Cruise</a:t>
                      </a:r>
                      <a: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"",</a:t>
                      </a:r>
                      <a:b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 ""</a:t>
                      </a:r>
                      <a:r>
                        <a:rPr lang="es-ES" sz="500" b="1" i="0" u="none" strike="noStrike" dirty="0" err="1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severity</a:t>
                      </a:r>
                      <a: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"": ""HIGH"",</a:t>
                      </a:r>
                      <a:b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 ""</a:t>
                      </a:r>
                      <a:r>
                        <a:rPr lang="es-ES" sz="500" b="1" i="0" u="none" strike="noStrike" dirty="0" err="1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recommended</a:t>
                      </a:r>
                      <a:r>
                        <a:rPr lang="es-ES" sz="500" b="0" i="0" u="none" strike="noStrike" dirty="0" err="1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_</a:t>
                      </a:r>
                      <a:r>
                        <a:rPr lang="es-ES" sz="500" b="1" i="0" u="none" strike="noStrike" dirty="0" err="1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actions</a:t>
                      </a:r>
                      <a: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"": [</a:t>
                      </a:r>
                      <a:b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   ""Aislar la línea hidráulica afectada; aplicar procedimiento de bypass según AMM (si aplica)."",</a:t>
                      </a:r>
                      <a:b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   ""Reemplazar acumulador hidráulico y verificar integridad de acoplamientos; registrar P/N ..."",</a:t>
                      </a:r>
                      <a:b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   ""Realizar prueba funcional en tierra siguiendo </a:t>
                      </a:r>
                      <a:r>
                        <a:rPr lang="es-ES" sz="500" b="0" i="0" u="none" strike="noStrike" dirty="0" err="1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checklist</a:t>
                      </a:r>
                      <a: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TSM; verificar presiones y fugas.""</a:t>
                      </a:r>
                      <a:b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  ],</a:t>
                      </a:r>
                      <a:b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  ""</a:t>
                      </a:r>
                      <a:r>
                        <a:rPr lang="es-ES" sz="500" b="1" i="0" u="none" strike="noStrike" dirty="0" err="1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references</a:t>
                      </a:r>
                      <a: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"": [</a:t>
                      </a:r>
                      <a:b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    ""AMM 29-01-10"", ""TSM 29-05-23""</a:t>
                      </a:r>
                      <a:b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  ],</a:t>
                      </a:r>
                      <a:b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   ""</a:t>
                      </a:r>
                      <a:r>
                        <a:rPr lang="es-ES" sz="500" b="1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notes</a:t>
                      </a:r>
                      <a: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"": ""Supuestos: aeronave </a:t>
                      </a:r>
                      <a:r>
                        <a:rPr lang="es-ES" sz="500" b="0" i="0" u="none" strike="noStrike" dirty="0" err="1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narrow-body</a:t>
                      </a:r>
                      <a: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 genérica; no se dispone de intervención previa. Requiere verificación con AMM del fabricante.""</a:t>
                      </a:r>
                      <a:b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s-ES" sz="500" b="0" i="0" u="none" strike="noStrike" dirty="0">
                          <a:solidFill>
                            <a:srgbClr val="EAF2FF"/>
                          </a:solidFill>
                          <a:effectLst/>
                          <a:latin typeface="Century Gothic" panose="020B0502020202020204" pitchFamily="34" charset="0"/>
                        </a:rPr>
                        <a:t>}</a:t>
                      </a:r>
                    </a:p>
                  </a:txBody>
                  <a:tcPr marL="3207" marR="3207" marT="3207" marB="0">
                    <a:lnL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FA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765274"/>
                  </a:ext>
                </a:extLst>
              </a:tr>
            </a:tbl>
          </a:graphicData>
        </a:graphic>
      </p:graphicFrame>
      <p:pic>
        <p:nvPicPr>
          <p:cNvPr id="39" name="Imagen 38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9A59ED6F-4C5B-9118-65CA-B2C658FF7B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360" y="750394"/>
            <a:ext cx="2568636" cy="549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020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A8F79-08EB-4EC4-99FF-BFF5246B7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Diagrama&#10;&#10;El contenido generado por IA puede ser incorrecto.">
            <a:extLst>
              <a:ext uri="{FF2B5EF4-FFF2-40B4-BE49-F238E27FC236}">
                <a16:creationId xmlns:a16="http://schemas.microsoft.com/office/drawing/2014/main" id="{A4A7A6B3-9593-11F1-8650-73FEEEB7A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"/>
            <a:ext cx="9144000" cy="6096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A8D0E73-6532-45B2-9EC2-6712490BF2FC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87A17E-DEB6-C31A-16F2-8B9A5F4447A0}"/>
              </a:ext>
            </a:extLst>
          </p:cNvPr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6656A5-219F-173B-F9D5-E5B5DE0E9381}"/>
              </a:ext>
            </a:extLst>
          </p:cNvPr>
          <p:cNvSpPr txBox="1"/>
          <p:nvPr/>
        </p:nvSpPr>
        <p:spPr>
          <a:xfrm>
            <a:off x="116360" y="6446519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BEBEB"/>
                </a:solidFill>
              </a:defRPr>
            </a:pPr>
            <a:r>
              <a:rPr dirty="0"/>
              <a:t>AeroGPT – David Carrera Pintor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6E9176-E49B-0BA8-19DC-4A1DAB8C2E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95360" y="6348104"/>
            <a:ext cx="432280" cy="4711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1EFB59-4936-E21A-852E-66F8B21BF0C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81720" y="6492239"/>
            <a:ext cx="1097280" cy="18288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8EF417F-0C01-BB6B-47D2-24BC971856E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0" y="0"/>
            <a:ext cx="9144000" cy="6309360"/>
          </a:xfrm>
          <a:prstGeom prst="rect">
            <a:avLst/>
          </a:prstGeom>
        </p:spPr>
      </p:pic>
      <p:pic>
        <p:nvPicPr>
          <p:cNvPr id="3" name="Imagen 2" descr="Gráfico, Gráfico de cajas y bigotes&#10;&#10;El contenido generado por IA puede ser incorrecto.">
            <a:extLst>
              <a:ext uri="{FF2B5EF4-FFF2-40B4-BE49-F238E27FC236}">
                <a16:creationId xmlns:a16="http://schemas.microsoft.com/office/drawing/2014/main" id="{3100C6E4-7A20-39A6-088A-EF8911958C0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-1" b="6629"/>
          <a:stretch>
            <a:fillRect/>
          </a:stretch>
        </p:blipFill>
        <p:spPr bwMode="auto">
          <a:xfrm>
            <a:off x="557096" y="1560091"/>
            <a:ext cx="2571026" cy="227661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C41A63ED-429E-2EFE-21E1-075ACCBE4CE3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92148" y="1849408"/>
            <a:ext cx="5559621" cy="1868909"/>
          </a:xfrm>
          <a:prstGeom prst="rect">
            <a:avLst/>
          </a:prstGeom>
        </p:spPr>
      </p:pic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E3A1481C-6977-0231-FC2F-7722D3E401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501881"/>
              </p:ext>
            </p:extLst>
          </p:nvPr>
        </p:nvGraphicFramePr>
        <p:xfrm>
          <a:off x="557096" y="4153046"/>
          <a:ext cx="4324019" cy="13587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58173">
                  <a:extLst>
                    <a:ext uri="{9D8B030D-6E8A-4147-A177-3AD203B41FA5}">
                      <a16:colId xmlns:a16="http://schemas.microsoft.com/office/drawing/2014/main" val="2413308851"/>
                    </a:ext>
                  </a:extLst>
                </a:gridCol>
                <a:gridCol w="558173">
                  <a:extLst>
                    <a:ext uri="{9D8B030D-6E8A-4147-A177-3AD203B41FA5}">
                      <a16:colId xmlns:a16="http://schemas.microsoft.com/office/drawing/2014/main" val="2037766204"/>
                    </a:ext>
                  </a:extLst>
                </a:gridCol>
                <a:gridCol w="618979">
                  <a:extLst>
                    <a:ext uri="{9D8B030D-6E8A-4147-A177-3AD203B41FA5}">
                      <a16:colId xmlns:a16="http://schemas.microsoft.com/office/drawing/2014/main" val="2860788522"/>
                    </a:ext>
                  </a:extLst>
                </a:gridCol>
                <a:gridCol w="588316">
                  <a:extLst>
                    <a:ext uri="{9D8B030D-6E8A-4147-A177-3AD203B41FA5}">
                      <a16:colId xmlns:a16="http://schemas.microsoft.com/office/drawing/2014/main" val="4051918456"/>
                    </a:ext>
                  </a:extLst>
                </a:gridCol>
                <a:gridCol w="694338">
                  <a:extLst>
                    <a:ext uri="{9D8B030D-6E8A-4147-A177-3AD203B41FA5}">
                      <a16:colId xmlns:a16="http://schemas.microsoft.com/office/drawing/2014/main" val="3608734902"/>
                    </a:ext>
                  </a:extLst>
                </a:gridCol>
                <a:gridCol w="634570">
                  <a:extLst>
                    <a:ext uri="{9D8B030D-6E8A-4147-A177-3AD203B41FA5}">
                      <a16:colId xmlns:a16="http://schemas.microsoft.com/office/drawing/2014/main" val="1832586172"/>
                    </a:ext>
                  </a:extLst>
                </a:gridCol>
                <a:gridCol w="671470">
                  <a:extLst>
                    <a:ext uri="{9D8B030D-6E8A-4147-A177-3AD203B41FA5}">
                      <a16:colId xmlns:a16="http://schemas.microsoft.com/office/drawing/2014/main" val="2672213727"/>
                    </a:ext>
                  </a:extLst>
                </a:gridCol>
              </a:tblGrid>
              <a:tr h="32137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700" kern="0">
                          <a:effectLst/>
                        </a:rPr>
                        <a:t>FD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700" kern="0">
                          <a:effectLst/>
                        </a:rPr>
                        <a:t>MAE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700" kern="0">
                          <a:effectLst/>
                        </a:rPr>
                        <a:t>MAE Post-Calib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700" kern="0">
                          <a:effectLst/>
                        </a:rPr>
                        <a:t>RMSE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700" kern="0">
                          <a:effectLst/>
                        </a:rPr>
                        <a:t>RMSE Post-Calib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700" kern="0" dirty="0">
                          <a:effectLst/>
                        </a:rPr>
                        <a:t>NASA score</a:t>
                      </a:r>
                      <a:endParaRPr lang="es-E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700" kern="0">
                          <a:effectLst/>
                        </a:rPr>
                        <a:t>NASA score Post-Calib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389440740"/>
                  </a:ext>
                </a:extLst>
              </a:tr>
              <a:tr h="2561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700" kern="0">
                          <a:effectLst/>
                        </a:rPr>
                        <a:t>FD001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700" kern="0" dirty="0">
                          <a:effectLst/>
                        </a:rPr>
                        <a:t>19.664</a:t>
                      </a:r>
                      <a:endParaRPr lang="es-E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700" kern="0">
                          <a:effectLst/>
                        </a:rPr>
                        <a:t>14.541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700" kern="0">
                          <a:effectLst/>
                        </a:rPr>
                        <a:t>25.796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700" kern="0">
                          <a:effectLst/>
                        </a:rPr>
                        <a:t>18.792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700" kern="0" dirty="0">
                          <a:effectLst/>
                        </a:rPr>
                        <a:t>3,387.041</a:t>
                      </a:r>
                      <a:endParaRPr lang="es-E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700" kern="0" dirty="0">
                          <a:effectLst/>
                        </a:rPr>
                        <a:t>553.052</a:t>
                      </a:r>
                      <a:endParaRPr lang="es-E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570806850"/>
                  </a:ext>
                </a:extLst>
              </a:tr>
              <a:tr h="2561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700" kern="0">
                          <a:effectLst/>
                        </a:rPr>
                        <a:t>FD002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700" kern="0">
                          <a:effectLst/>
                        </a:rPr>
                        <a:t>24.216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700" kern="0">
                          <a:effectLst/>
                        </a:rPr>
                        <a:t>24.098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700" kern="0">
                          <a:effectLst/>
                        </a:rPr>
                        <a:t>33.420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700" kern="0">
                          <a:effectLst/>
                        </a:rPr>
                        <a:t>32.219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700" kern="0">
                          <a:effectLst/>
                        </a:rPr>
                        <a:t>110,167.384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700" kern="0" dirty="0">
                          <a:effectLst/>
                        </a:rPr>
                        <a:t>53,437.917</a:t>
                      </a:r>
                      <a:endParaRPr lang="es-E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651649790"/>
                  </a:ext>
                </a:extLst>
              </a:tr>
              <a:tr h="2561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700" kern="0">
                          <a:effectLst/>
                        </a:rPr>
                        <a:t>FD003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700" kern="0">
                          <a:effectLst/>
                        </a:rPr>
                        <a:t>35.854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700" kern="0">
                          <a:effectLst/>
                        </a:rPr>
                        <a:t>19.340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700" kern="0">
                          <a:effectLst/>
                        </a:rPr>
                        <a:t>55.232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700" kern="0">
                          <a:effectLst/>
                        </a:rPr>
                        <a:t>24.313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700" kern="0">
                          <a:effectLst/>
                        </a:rPr>
                        <a:t>124,225,466.781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700" kern="0" dirty="0">
                          <a:effectLst/>
                        </a:rPr>
                        <a:t>3,977.614</a:t>
                      </a:r>
                      <a:endParaRPr lang="es-E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489963014"/>
                  </a:ext>
                </a:extLst>
              </a:tr>
              <a:tr h="26894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700" kern="0">
                          <a:effectLst/>
                        </a:rPr>
                        <a:t>FD004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700" kern="0">
                          <a:effectLst/>
                        </a:rPr>
                        <a:t>32.097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700" kern="0">
                          <a:effectLst/>
                        </a:rPr>
                        <a:t>28.242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700" kern="0">
                          <a:effectLst/>
                        </a:rPr>
                        <a:t>42.350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700" kern="0">
                          <a:effectLst/>
                        </a:rPr>
                        <a:t>34.987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700" kern="0">
                          <a:effectLst/>
                        </a:rPr>
                        <a:t>1,060,574.025 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700" kern="0" dirty="0">
                          <a:effectLst/>
                        </a:rPr>
                        <a:t>19,813.494</a:t>
                      </a:r>
                      <a:endParaRPr lang="es-E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932914604"/>
                  </a:ext>
                </a:extLst>
              </a:tr>
            </a:tbl>
          </a:graphicData>
        </a:graphic>
      </p:graphicFrame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2C13A804-94EF-7346-3936-61AEB50D3B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642658"/>
              </p:ext>
            </p:extLst>
          </p:nvPr>
        </p:nvGraphicFramePr>
        <p:xfrm>
          <a:off x="5602760" y="4169937"/>
          <a:ext cx="2819595" cy="13587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39865">
                  <a:extLst>
                    <a:ext uri="{9D8B030D-6E8A-4147-A177-3AD203B41FA5}">
                      <a16:colId xmlns:a16="http://schemas.microsoft.com/office/drawing/2014/main" val="3042438332"/>
                    </a:ext>
                  </a:extLst>
                </a:gridCol>
                <a:gridCol w="939865">
                  <a:extLst>
                    <a:ext uri="{9D8B030D-6E8A-4147-A177-3AD203B41FA5}">
                      <a16:colId xmlns:a16="http://schemas.microsoft.com/office/drawing/2014/main" val="2420175961"/>
                    </a:ext>
                  </a:extLst>
                </a:gridCol>
                <a:gridCol w="939865">
                  <a:extLst>
                    <a:ext uri="{9D8B030D-6E8A-4147-A177-3AD203B41FA5}">
                      <a16:colId xmlns:a16="http://schemas.microsoft.com/office/drawing/2014/main" val="1047144357"/>
                    </a:ext>
                  </a:extLst>
                </a:gridCol>
              </a:tblGrid>
              <a:tr h="2732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100" kern="0" dirty="0">
                          <a:effectLst/>
                        </a:rPr>
                        <a:t>Métrica</a:t>
                      </a:r>
                      <a:endParaRPr lang="es-E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100" kern="0">
                          <a:effectLst/>
                        </a:rPr>
                        <a:t>Sin Calibrar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100" kern="0">
                          <a:effectLst/>
                        </a:rPr>
                        <a:t>Calibrado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997864421"/>
                  </a:ext>
                </a:extLst>
              </a:tr>
              <a:tr h="2732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100" kern="0">
                          <a:effectLst/>
                        </a:rPr>
                        <a:t>MAE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100" kern="0">
                          <a:effectLst/>
                        </a:rPr>
                        <a:t>27.983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100" kern="0">
                          <a:effectLst/>
                        </a:rPr>
                        <a:t>24.837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13838327"/>
                  </a:ext>
                </a:extLst>
              </a:tr>
              <a:tr h="2732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100" kern="0">
                          <a:effectLst/>
                        </a:rPr>
                        <a:t>RMSE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100" kern="0">
                          <a:effectLst/>
                        </a:rPr>
                        <a:t>39.546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100" kern="0" dirty="0">
                          <a:effectLst/>
                        </a:rPr>
                        <a:t>32.455</a:t>
                      </a:r>
                      <a:endParaRPr lang="es-E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49538973"/>
                  </a:ext>
                </a:extLst>
              </a:tr>
              <a:tr h="5389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100" kern="0">
                          <a:effectLst/>
                        </a:rPr>
                        <a:t>NASA score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100" kern="0">
                          <a:effectLst/>
                        </a:rPr>
                        <a:t>125,399,595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100" kern="0" dirty="0">
                          <a:effectLst/>
                        </a:rPr>
                        <a:t>290,771</a:t>
                      </a:r>
                      <a:endParaRPr lang="es-E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780193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3148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2EE19-73DB-D3D1-F94C-F1623D3D4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Diagrama&#10;&#10;El contenido generado por IA puede ser incorrecto.">
            <a:extLst>
              <a:ext uri="{FF2B5EF4-FFF2-40B4-BE49-F238E27FC236}">
                <a16:creationId xmlns:a16="http://schemas.microsoft.com/office/drawing/2014/main" id="{05EF3371-C2C8-06B3-5B07-5087B665C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"/>
            <a:ext cx="9144000" cy="6096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A005117-62D0-723C-3583-5815E4B2417F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9D8668-3D47-8652-885D-333D7D3B4B6D}"/>
              </a:ext>
            </a:extLst>
          </p:cNvPr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7F6D19-9EAC-00CA-E347-E8FC5426E8C9}"/>
              </a:ext>
            </a:extLst>
          </p:cNvPr>
          <p:cNvSpPr txBox="1"/>
          <p:nvPr/>
        </p:nvSpPr>
        <p:spPr>
          <a:xfrm>
            <a:off x="116360" y="6446519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BEBEB"/>
                </a:solidFill>
              </a:defRPr>
            </a:pPr>
            <a:r>
              <a:rPr dirty="0"/>
              <a:t>AeroGPT – David Carrera Pintor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938FA1-7B48-2509-90C7-5984F30652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95360" y="6348104"/>
            <a:ext cx="432280" cy="4711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825875-26A7-45A0-7076-FB9D87F758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81720" y="6492239"/>
            <a:ext cx="1097280" cy="18288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CF54EF7-1A42-A2B8-4D84-FD675E1560B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0" y="38745"/>
            <a:ext cx="9144000" cy="6270613"/>
          </a:xfrm>
          <a:prstGeom prst="rect">
            <a:avLst/>
          </a:prstGeom>
        </p:spPr>
      </p:pic>
      <p:pic>
        <p:nvPicPr>
          <p:cNvPr id="18" name="Imagen 17" descr="Una 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0B8F363E-BB97-CC8A-196B-488D7B75E7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7785" y="4437927"/>
            <a:ext cx="6488430" cy="1734272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D53A8926-864B-C935-670A-E7C0EB2D05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0979" y="1461378"/>
            <a:ext cx="6315236" cy="372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801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30F23-B97F-D32A-4CFA-EC7900B7E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Diagrama&#10;&#10;El contenido generado por IA puede ser incorrecto.">
            <a:extLst>
              <a:ext uri="{FF2B5EF4-FFF2-40B4-BE49-F238E27FC236}">
                <a16:creationId xmlns:a16="http://schemas.microsoft.com/office/drawing/2014/main" id="{51716487-3CFC-8D56-DD1C-3CFFF0668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"/>
            <a:ext cx="9144000" cy="6096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543BB9B-DC1E-E679-691D-AE6B23DDE0D7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86EA76-E9C2-C91E-3100-203AC8224447}"/>
              </a:ext>
            </a:extLst>
          </p:cNvPr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85150C-C776-6E39-5993-AF5284B279F2}"/>
              </a:ext>
            </a:extLst>
          </p:cNvPr>
          <p:cNvSpPr txBox="1"/>
          <p:nvPr/>
        </p:nvSpPr>
        <p:spPr>
          <a:xfrm>
            <a:off x="116360" y="6446519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BEBEB"/>
                </a:solidFill>
              </a:defRPr>
            </a:pPr>
            <a:r>
              <a:rPr dirty="0"/>
              <a:t>AeroGPT – David Carrera Pintor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A1B0FB-7E87-22F7-0429-86D2FE317E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95360" y="6348104"/>
            <a:ext cx="432280" cy="4711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EBE10B-86C4-79F7-E634-834B006070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81720" y="6492239"/>
            <a:ext cx="1097280" cy="18288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3EA7AE1-881C-EEBF-C97E-EB28CFF0C59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0" y="-30481"/>
            <a:ext cx="9144000" cy="630109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8FB2DAF-04D4-5802-8D87-3674602C5E5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3339204" y="4788881"/>
            <a:ext cx="6413690" cy="786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n 13" descr="Diagrama&#10;&#10;El contenido generado por IA puede ser incorrecto.">
            <a:extLst>
              <a:ext uri="{FF2B5EF4-FFF2-40B4-BE49-F238E27FC236}">
                <a16:creationId xmlns:a16="http://schemas.microsoft.com/office/drawing/2014/main" id="{DEBA836F-8DE6-5717-5F15-81716DB0CAE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9564"/>
          <a:stretch>
            <a:fillRect/>
          </a:stretch>
        </p:blipFill>
        <p:spPr bwMode="auto">
          <a:xfrm>
            <a:off x="758072" y="1282954"/>
            <a:ext cx="7720928" cy="263114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A39CBCC0-A234-9668-8EEF-5B0AD26FFD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647484"/>
              </p:ext>
            </p:extLst>
          </p:nvPr>
        </p:nvGraphicFramePr>
        <p:xfrm>
          <a:off x="3534255" y="4107852"/>
          <a:ext cx="5493385" cy="19690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22350">
                  <a:extLst>
                    <a:ext uri="{9D8B030D-6E8A-4147-A177-3AD203B41FA5}">
                      <a16:colId xmlns:a16="http://schemas.microsoft.com/office/drawing/2014/main" val="1119519953"/>
                    </a:ext>
                  </a:extLst>
                </a:gridCol>
                <a:gridCol w="2154555">
                  <a:extLst>
                    <a:ext uri="{9D8B030D-6E8A-4147-A177-3AD203B41FA5}">
                      <a16:colId xmlns:a16="http://schemas.microsoft.com/office/drawing/2014/main" val="2646513349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1166065783"/>
                    </a:ext>
                  </a:extLst>
                </a:gridCol>
              </a:tblGrid>
              <a:tr h="1473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ES" sz="900" kern="0">
                          <a:effectLst/>
                        </a:rPr>
                        <a:t>Categoría</a:t>
                      </a:r>
                      <a:endParaRPr lang="es-ES" sz="1000" kern="100">
                        <a:effectLst/>
                        <a:latin typeface="Calibri Light" panose="020F03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ES" sz="900" kern="0">
                          <a:effectLst/>
                        </a:rPr>
                        <a:t>Atributos AgentState</a:t>
                      </a:r>
                      <a:endParaRPr lang="es-ES" sz="1000" kern="100">
                        <a:effectLst/>
                        <a:latin typeface="Calibri Light" panose="020F03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ES" sz="900" kern="0">
                          <a:effectLst/>
                        </a:rPr>
                        <a:t>Propósito</a:t>
                      </a:r>
                      <a:endParaRPr lang="es-ES" sz="1000" kern="100">
                        <a:effectLst/>
                        <a:latin typeface="Calibri Light" panose="020F03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63942384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ES" sz="900" kern="0">
                          <a:effectLst/>
                        </a:rPr>
                        <a:t>Mensajes</a:t>
                      </a:r>
                      <a:endParaRPr lang="es-ES" sz="1000" kern="100">
                        <a:effectLst/>
                        <a:latin typeface="Calibri Light" panose="020F03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ES" sz="900" kern="0">
                          <a:effectLst/>
                        </a:rPr>
                        <a:t>messages</a:t>
                      </a:r>
                      <a:endParaRPr lang="es-ES" sz="1000" kern="100">
                        <a:effectLst/>
                        <a:latin typeface="Calibri Light" panose="020F03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900" kern="0">
                          <a:effectLst/>
                        </a:rPr>
                        <a:t>Historial de conversación de LangChain (HumanMessage, AIMessage)</a:t>
                      </a:r>
                      <a:endParaRPr lang="es-ES" sz="1000" kern="100">
                        <a:effectLst/>
                        <a:latin typeface="Calibri Light" panose="020F03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22555288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ES" sz="900" kern="0">
                          <a:effectLst/>
                        </a:rPr>
                        <a:t>Control de Enrutamiento</a:t>
                      </a:r>
                      <a:endParaRPr lang="es-ES" sz="1000" kern="100">
                        <a:effectLst/>
                        <a:latin typeface="Calibri Light" panose="020F03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decision, next_agent, needs_followup, source</a:t>
                      </a:r>
                      <a:endParaRPr lang="es-ES" sz="1000" kern="100">
                        <a:effectLst/>
                        <a:latin typeface="Calibri Light" panose="020F03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ES" sz="900" kern="0">
                          <a:effectLst/>
                        </a:rPr>
                        <a:t>Control del flujo y la transición entre agentes</a:t>
                      </a:r>
                      <a:endParaRPr lang="es-ES" sz="1000" kern="100">
                        <a:effectLst/>
                        <a:latin typeface="Calibri Light" panose="020F03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02468761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ES" sz="900" kern="0">
                          <a:effectLst/>
                        </a:rPr>
                        <a:t>Salidas de los Agentes</a:t>
                      </a:r>
                      <a:endParaRPr lang="es-ES" sz="1000" kern="100">
                        <a:effectLst/>
                        <a:latin typeface="Calibri Light" panose="020F03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ES" sz="900" kern="0">
                          <a:effectLst/>
                        </a:rPr>
                        <a:t>regulacion, criticidad, reparacion, rul, tecnico, general_notes, final_response</a:t>
                      </a:r>
                      <a:endParaRPr lang="es-ES" sz="1000" kern="100">
                        <a:effectLst/>
                        <a:latin typeface="Calibri Light" panose="020F03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ES" sz="900" kern="0">
                          <a:effectLst/>
                        </a:rPr>
                        <a:t>Resultados de análisis específicos de dominio generados por cada agente</a:t>
                      </a:r>
                      <a:endParaRPr lang="es-ES" sz="1000" kern="100">
                        <a:effectLst/>
                        <a:latin typeface="Calibri Light" panose="020F03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8204516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ES" sz="900" kern="0">
                          <a:effectLst/>
                        </a:rPr>
                        <a:t>Específico de RUL</a:t>
                      </a:r>
                      <a:endParaRPr lang="es-ES" sz="1000" kern="100">
                        <a:effectLst/>
                        <a:latin typeface="Calibri Light" panose="020F03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ES" sz="900" kern="0">
                          <a:effectLst/>
                        </a:rPr>
                        <a:t>pre_rul_data, modelo_seleccionado</a:t>
                      </a:r>
                      <a:endParaRPr lang="es-ES" sz="1000" kern="100">
                        <a:effectLst/>
                        <a:latin typeface="Calibri Light" panose="020F03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ES" sz="900" kern="0">
                          <a:effectLst/>
                        </a:rPr>
                        <a:t>Datos de sensores CMAPSS y modelo seleccionado (FD001–FD004)</a:t>
                      </a:r>
                      <a:endParaRPr lang="es-ES" sz="1000" kern="100">
                        <a:effectLst/>
                        <a:latin typeface="Calibri Light" panose="020F03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885399279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ES" sz="900" kern="0">
                          <a:effectLst/>
                        </a:rPr>
                        <a:t>Memoria e Interfaz de Usuario</a:t>
                      </a:r>
                      <a:endParaRPr lang="es-ES" sz="1000" kern="100">
                        <a:effectLst/>
                        <a:latin typeface="Calibri Light" panose="020F03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conversation_summary, history_by_agent,</a:t>
                      </a:r>
                      <a:endParaRPr lang="es-ES" sz="1000" kern="100">
                        <a:effectLst/>
                        <a:latin typeface="Calibri Light" panose="020F03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ES" sz="900" kern="0">
                          <a:effectLst/>
                        </a:rPr>
                        <a:t>Memoria conversacional y analítica</a:t>
                      </a:r>
                      <a:endParaRPr lang="es-ES" sz="1000" kern="100">
                        <a:effectLst/>
                        <a:latin typeface="Calibri Light" panose="020F03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074089327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ES" sz="900" kern="0">
                          <a:effectLst/>
                        </a:rPr>
                        <a:t>Interfaz de Usuario</a:t>
                      </a:r>
                      <a:endParaRPr lang="es-ES" sz="1000" kern="100">
                        <a:effectLst/>
                        <a:latin typeface="Calibri Light" panose="020F03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900" kern="0">
                          <a:effectLst/>
                        </a:rPr>
                        <a:t>output_buffer, debug_buffer</a:t>
                      </a:r>
                      <a:endParaRPr lang="es-ES" sz="1000" kern="100">
                        <a:effectLst/>
                        <a:latin typeface="Calibri Light" panose="020F03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ES" sz="900" kern="0" dirty="0">
                          <a:effectLst/>
                        </a:rPr>
                        <a:t>Retroalimentación para la interfaz de usuario</a:t>
                      </a:r>
                      <a:endParaRPr lang="es-ES" sz="1000" kern="100" dirty="0">
                        <a:effectLst/>
                        <a:latin typeface="Calibri Light" panose="020F03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799186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8796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5CC8A7C2-B6EB-5FBE-CB1D-A787BB548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4774" y="3429000"/>
            <a:ext cx="7109767" cy="1738345"/>
          </a:xfrm>
          <a:prstGeom prst="rect">
            <a:avLst/>
          </a:prstGeom>
        </p:spPr>
      </p:pic>
      <p:pic>
        <p:nvPicPr>
          <p:cNvPr id="5" name="Imagen 4" descr="Imagen que contiene reloj, calle&#10;&#10;El contenido generado por IA puede ser incorrecto.">
            <a:extLst>
              <a:ext uri="{FF2B5EF4-FFF2-40B4-BE49-F238E27FC236}">
                <a16:creationId xmlns:a16="http://schemas.microsoft.com/office/drawing/2014/main" id="{E7802ACD-2874-1F7A-BACA-C953C1D7C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27" y="418376"/>
            <a:ext cx="7940022" cy="124958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A8E0F71-F048-7D77-27F1-CEA53117FA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149" y="5798285"/>
            <a:ext cx="8465978" cy="90215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3B799F4-96FD-A64F-48D5-69428AD095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5443" y="1910338"/>
            <a:ext cx="5593390" cy="364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778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14683</TotalTime>
  <Words>1968</Words>
  <Application>Microsoft Office PowerPoint</Application>
  <PresentationFormat>Presentación en pantalla (4:3)</PresentationFormat>
  <Paragraphs>249</Paragraphs>
  <Slides>9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Century Gothic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David Cp</dc:creator>
  <cp:keywords/>
  <dc:description>generated using python-pptx</dc:description>
  <cp:lastModifiedBy>David Carrera Pintor</cp:lastModifiedBy>
  <cp:revision>9</cp:revision>
  <dcterms:created xsi:type="dcterms:W3CDTF">2013-01-27T09:14:16Z</dcterms:created>
  <dcterms:modified xsi:type="dcterms:W3CDTF">2026-02-18T22:19:16Z</dcterms:modified>
  <cp:category/>
</cp:coreProperties>
</file>